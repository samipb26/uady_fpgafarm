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Quantico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02CFCF-4D7C-4386-8E43-4D71F82CB674}">
  <a:tblStyle styleId="{7F02CFCF-4D7C-4386-8E43-4D71F82CB6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ntico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Quantico-regular.fntdata"/><Relationship Id="rId16" Type="http://schemas.openxmlformats.org/officeDocument/2006/relationships/slide" Target="slides/slide10.xml"/><Relationship Id="rId19" Type="http://schemas.openxmlformats.org/officeDocument/2006/relationships/font" Target="fonts/Quantico-italic.fntdata"/><Relationship Id="rId18" Type="http://schemas.openxmlformats.org/officeDocument/2006/relationships/font" Target="fonts/Quantic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53b995f9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53b995f9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53b995f9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53b995f9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53b995f93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e53b995f93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580734ae4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e580734ae4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53b995f93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53b995f93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53b995f93_0_1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e53b995f93_0_1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53b995f9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e53b995f9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53b995f9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e53b995f9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5887b5a98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e5887b5a98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5887b5a9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5887b5a9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3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2.jpg"/><Relationship Id="rId5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Samip Bhattarai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27/05/2026</a:t>
            </a:r>
            <a:endParaRPr/>
          </a:p>
        </p:txBody>
      </p:sp>
      <p:sp>
        <p:nvSpPr>
          <p:cNvPr id="432" name="Google Shape;432;p47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Implementation of an Agilex FPGA Within an FPGA Farm for High Performance Computing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100">
                <a:solidFill>
                  <a:schemeClr val="accent6"/>
                </a:solidFill>
              </a:rPr>
              <a:t>The </a:t>
            </a:r>
            <a:r>
              <a:rPr lang="en" sz="3100">
                <a:solidFill>
                  <a:schemeClr val="accent6"/>
                </a:solidFill>
              </a:rPr>
              <a:t>research</a:t>
            </a:r>
            <a:r>
              <a:rPr lang="en" sz="3100">
                <a:solidFill>
                  <a:schemeClr val="accent6"/>
                </a:solidFill>
              </a:rPr>
              <a:t> problem</a:t>
            </a:r>
            <a:endParaRPr sz="3100">
              <a:solidFill>
                <a:schemeClr val="accent6"/>
              </a:solidFill>
            </a:endParaRPr>
          </a:p>
        </p:txBody>
      </p:sp>
      <p:sp>
        <p:nvSpPr>
          <p:cNvPr id="438" name="Google Shape;438;p48"/>
          <p:cNvSpPr txBox="1"/>
          <p:nvPr>
            <p:ph idx="2" type="title"/>
          </p:nvPr>
        </p:nvSpPr>
        <p:spPr>
          <a:xfrm>
            <a:off x="931675" y="1712050"/>
            <a:ext cx="4067100" cy="287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</a:pPr>
            <a:r>
              <a:rPr lang="en">
                <a:solidFill>
                  <a:schemeClr val="accent6"/>
                </a:solidFill>
              </a:rPr>
              <a:t>Implementation</a:t>
            </a:r>
            <a:r>
              <a:rPr lang="en">
                <a:solidFill>
                  <a:schemeClr val="accent6"/>
                </a:solidFill>
              </a:rPr>
              <a:t> of the Agilex 10 board</a:t>
            </a:r>
            <a:endParaRPr>
              <a:solidFill>
                <a:schemeClr val="accent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</a:pPr>
            <a:r>
              <a:rPr lang="en">
                <a:solidFill>
                  <a:schemeClr val="accent6"/>
                </a:solidFill>
              </a:rPr>
              <a:t>Documentation Gap</a:t>
            </a:r>
            <a:endParaRPr>
              <a:solidFill>
                <a:schemeClr val="accent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</a:pPr>
            <a:r>
              <a:rPr lang="en">
                <a:solidFill>
                  <a:schemeClr val="accent6"/>
                </a:solidFill>
              </a:rPr>
              <a:t>Lack of Standardized </a:t>
            </a:r>
            <a:r>
              <a:rPr lang="en">
                <a:solidFill>
                  <a:schemeClr val="accent6"/>
                </a:solidFill>
              </a:rPr>
              <a:t>Tutorials</a:t>
            </a:r>
            <a:endParaRPr>
              <a:solidFill>
                <a:schemeClr val="accent6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</a:pPr>
            <a:r>
              <a:rPr lang="en">
                <a:solidFill>
                  <a:schemeClr val="accent6"/>
                </a:solidFill>
              </a:rPr>
              <a:t>Power consumption and </a:t>
            </a:r>
            <a:r>
              <a:rPr lang="en">
                <a:solidFill>
                  <a:schemeClr val="accent6"/>
                </a:solidFill>
              </a:rPr>
              <a:t>efficiency</a:t>
            </a:r>
            <a:endParaRPr>
              <a:solidFill>
                <a:schemeClr val="accent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</a:pPr>
            <a:r>
              <a:rPr lang="en">
                <a:solidFill>
                  <a:schemeClr val="accent6"/>
                </a:solidFill>
              </a:rPr>
              <a:t>Static Power</a:t>
            </a:r>
            <a:endParaRPr>
              <a:solidFill>
                <a:schemeClr val="accent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</a:pPr>
            <a:r>
              <a:rPr lang="en">
                <a:solidFill>
                  <a:schemeClr val="accent6"/>
                </a:solidFill>
              </a:rPr>
              <a:t>Proper Routing to correct boards</a:t>
            </a:r>
            <a:endParaRPr>
              <a:solidFill>
                <a:schemeClr val="accent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</a:pPr>
            <a:r>
              <a:rPr lang="en">
                <a:solidFill>
                  <a:schemeClr val="accent6"/>
                </a:solidFill>
              </a:rPr>
              <a:t>Task restrictions</a:t>
            </a:r>
            <a:endParaRPr>
              <a:solidFill>
                <a:schemeClr val="accent6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</a:pPr>
            <a:r>
              <a:rPr lang="en">
                <a:solidFill>
                  <a:schemeClr val="accent6"/>
                </a:solidFill>
              </a:rPr>
              <a:t>System Bottleneck</a:t>
            </a:r>
            <a:endParaRPr>
              <a:solidFill>
                <a:schemeClr val="accent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</a:pPr>
            <a:r>
              <a:rPr lang="en">
                <a:solidFill>
                  <a:schemeClr val="accent6"/>
                </a:solidFill>
              </a:rPr>
              <a:t>Queue Saturation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descr="A question mark icon." id="439" name="Google Shape;439;p48"/>
          <p:cNvSpPr txBox="1"/>
          <p:nvPr/>
        </p:nvSpPr>
        <p:spPr>
          <a:xfrm>
            <a:off x="6517802" y="1117222"/>
            <a:ext cx="8133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7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rPr>
              <a:t>?</a:t>
            </a:r>
            <a:endParaRPr sz="7200">
              <a:solidFill>
                <a:schemeClr val="accent3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An exclamation mark icon" id="440" name="Google Shape;440;p48"/>
          <p:cNvSpPr txBox="1"/>
          <p:nvPr/>
        </p:nvSpPr>
        <p:spPr>
          <a:xfrm>
            <a:off x="6665927" y="3103597"/>
            <a:ext cx="8133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7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rPr>
              <a:t>!</a:t>
            </a:r>
            <a:endParaRPr sz="72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441" name="Google Shape;44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850" y="2887174"/>
            <a:ext cx="2919775" cy="19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0850" y="56850"/>
            <a:ext cx="2919775" cy="27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/>
        </p:nvSpPr>
        <p:spPr>
          <a:xfrm>
            <a:off x="284175" y="285750"/>
            <a:ext cx="83820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Literature Review</a:t>
            </a:r>
            <a:endParaRPr sz="31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48" name="Google Shape;448;p49"/>
          <p:cNvSpPr txBox="1"/>
          <p:nvPr/>
        </p:nvSpPr>
        <p:spPr>
          <a:xfrm>
            <a:off x="284175" y="1186425"/>
            <a:ext cx="26133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FPGA Farm </a:t>
            </a:r>
            <a:r>
              <a:rPr lang="en"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Infrastructure</a:t>
            </a:r>
            <a:endParaRPr sz="16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9" name="Google Shape;449;p49"/>
          <p:cNvSpPr txBox="1"/>
          <p:nvPr/>
        </p:nvSpPr>
        <p:spPr>
          <a:xfrm>
            <a:off x="331814" y="1667925"/>
            <a:ext cx="2517900" cy="27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Host Operating System: Ubuntu PC as a node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Network Access: Secured remotely via NetBird VPN and OpenSSH (Port 22)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FPGA Programming: Python scripts utilizing Paramiko to execute remote Quartus commands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File Transfer: </a:t>
            </a: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Compiled</a:t>
            </a: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bitstream files scrapped through Users directory and uploaded via SFTP protocol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" name="Google Shape;450;p49"/>
          <p:cNvSpPr txBox="1"/>
          <p:nvPr/>
        </p:nvSpPr>
        <p:spPr>
          <a:xfrm>
            <a:off x="5650750" y="1254500"/>
            <a:ext cx="32091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JTAG Connection</a:t>
            </a:r>
            <a:endParaRPr sz="16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" name="Google Shape;451;p49"/>
          <p:cNvSpPr txBox="1"/>
          <p:nvPr/>
        </p:nvSpPr>
        <p:spPr>
          <a:xfrm>
            <a:off x="5709250" y="1736000"/>
            <a:ext cx="3092100" cy="27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Universal Interface: A physical programming link between the Ubuntu host and all FPGA nodes.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Design Constraints: Legacy connection type not designed for high-speed data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Data Bottleneck: </a:t>
            </a:r>
            <a:r>
              <a:rPr lang="en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Restricts data transfer rates, causes significant delays when flashing bitstreams to the Agilex.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2" name="Google Shape;45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625" y="1695825"/>
            <a:ext cx="3209101" cy="240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0"/>
          <p:cNvSpPr txBox="1"/>
          <p:nvPr/>
        </p:nvSpPr>
        <p:spPr>
          <a:xfrm>
            <a:off x="284175" y="285750"/>
            <a:ext cx="83820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Literature Review</a:t>
            </a:r>
            <a:endParaRPr sz="31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graphicFrame>
        <p:nvGraphicFramePr>
          <p:cNvPr id="458" name="Google Shape;458;p50"/>
          <p:cNvGraphicFramePr/>
          <p:nvPr/>
        </p:nvGraphicFramePr>
        <p:xfrm>
          <a:off x="195263" y="1157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{7F02CFCF-4D7C-4386-8E43-4D71F82CB674}</a:tableStyleId>
              </a:tblPr>
              <a:tblGrid>
                <a:gridCol w="1552575"/>
                <a:gridCol w="1495425"/>
                <a:gridCol w="1704975"/>
                <a:gridCol w="4000500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Specification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DE1-SoC (Cyclone V)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Agilex 10 (HPC Node)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The System Impact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6"/>
                          </a:solidFill>
                        </a:rPr>
                        <a:t>Logic Capacity</a:t>
                      </a:r>
                      <a:endParaRPr b="1"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~32,000 ALMs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1,000,000+ ALMs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6"/>
                          </a:solidFill>
                        </a:rPr>
                        <a:t>Static Power:</a:t>
                      </a: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Massive baseline static power leakage if Agilex is powered on for simple logic.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6"/>
                          </a:solidFill>
                        </a:rPr>
                        <a:t>On-Board Memory</a:t>
                      </a:r>
                      <a:endParaRPr b="1"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64MB SDRAM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32GB DDR4 (680 Gbps)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6"/>
                          </a:solidFill>
                        </a:rPr>
                        <a:t>Dynamic Power:</a:t>
                      </a: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Wasted dynamic power keeping a massive 680 Gbps memory bus awake for tiny workloads.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6"/>
                          </a:solidFill>
                        </a:rPr>
                        <a:t>Network I/O</a:t>
                      </a:r>
                      <a:endParaRPr b="1"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1 Gbps Ethernet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Dual 200G QSFP-DD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6"/>
                          </a:solidFill>
                        </a:rPr>
                        <a:t>Data Bottleneck:</a:t>
                      </a: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The Agilex remains underutilized while waiting for the Ubuntu host server to transfer data over the low-bandwidth JTAG connection.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6"/>
                          </a:solidFill>
                        </a:rPr>
                        <a:t>Configuration Overhead</a:t>
                      </a:r>
                      <a:endParaRPr b="1"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Tiny </a:t>
                      </a:r>
                      <a:r>
                        <a:rPr lang="en" sz="1150">
                          <a:solidFill>
                            <a:schemeClr val="accent6"/>
                          </a:solidFill>
                        </a:rPr>
                        <a:t>.sof</a:t>
                      </a: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 file (1-2s JTAG flash)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Massive </a:t>
                      </a:r>
                      <a:r>
                        <a:rPr lang="en" sz="1150">
                          <a:solidFill>
                            <a:schemeClr val="accent6"/>
                          </a:solidFill>
                        </a:rPr>
                        <a:t>.sof</a:t>
                      </a: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 file (Long JTAG flash)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6"/>
                          </a:solidFill>
                        </a:rPr>
                        <a:t>Queue Saturation:</a:t>
                      </a: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 Forcing the server to flash a massive Agilex bitstream for a tiny task instantly backs up the waitlist.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1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100">
                <a:solidFill>
                  <a:schemeClr val="accent6"/>
                </a:solidFill>
              </a:rPr>
              <a:t>General Objectives</a:t>
            </a:r>
            <a:endParaRPr sz="3100">
              <a:solidFill>
                <a:schemeClr val="accent6"/>
              </a:solidFill>
            </a:endParaRPr>
          </a:p>
        </p:txBody>
      </p:sp>
      <p:sp>
        <p:nvSpPr>
          <p:cNvPr id="464" name="Google Shape;464;p51"/>
          <p:cNvSpPr txBox="1"/>
          <p:nvPr>
            <p:ph idx="2" type="title"/>
          </p:nvPr>
        </p:nvSpPr>
        <p:spPr>
          <a:xfrm>
            <a:off x="901075" y="1797850"/>
            <a:ext cx="4067100" cy="287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</a:pPr>
            <a:r>
              <a:rPr lang="en">
                <a:solidFill>
                  <a:schemeClr val="accent6"/>
                </a:solidFill>
              </a:rPr>
              <a:t>Implement a functional DE10-Agilex FPGA board</a:t>
            </a:r>
            <a:endParaRPr>
              <a:solidFill>
                <a:schemeClr val="accent6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</a:pPr>
            <a:r>
              <a:rPr lang="en">
                <a:solidFill>
                  <a:schemeClr val="accent6"/>
                </a:solidFill>
              </a:rPr>
              <a:t>Demonstrate improvement in Power Consumption and </a:t>
            </a:r>
            <a:r>
              <a:rPr lang="en">
                <a:solidFill>
                  <a:schemeClr val="accent6"/>
                </a:solidFill>
              </a:rPr>
              <a:t>Efficiency</a:t>
            </a:r>
            <a:endParaRPr>
              <a:solidFill>
                <a:schemeClr val="accent6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</a:pPr>
            <a:r>
              <a:rPr lang="en">
                <a:solidFill>
                  <a:schemeClr val="accent6"/>
                </a:solidFill>
              </a:rPr>
              <a:t>Implement an Agentic AI using the Raspberry Pi 5 and Hailo-10H HAT</a:t>
            </a:r>
            <a:endParaRPr>
              <a:solidFill>
                <a:schemeClr val="accent6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</a:pPr>
            <a:r>
              <a:rPr lang="en">
                <a:solidFill>
                  <a:schemeClr val="accent6"/>
                </a:solidFill>
              </a:rPr>
              <a:t>Program an automation script that can assign, power on and off,  and program an FPGA board through AI input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65" name="Google Shape;46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625" y="684075"/>
            <a:ext cx="2926650" cy="19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2925" y="2778149"/>
            <a:ext cx="2870076" cy="189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2"/>
          <p:cNvSpPr txBox="1"/>
          <p:nvPr>
            <p:ph idx="2" type="title"/>
          </p:nvPr>
        </p:nvSpPr>
        <p:spPr>
          <a:xfrm>
            <a:off x="916350" y="726775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100">
                <a:solidFill>
                  <a:schemeClr val="accent6"/>
                </a:solidFill>
              </a:rPr>
              <a:t>Specific Objectives</a:t>
            </a:r>
            <a:endParaRPr sz="31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" name="Google Shape;472;p52"/>
          <p:cNvSpPr txBox="1"/>
          <p:nvPr>
            <p:ph idx="2" type="title"/>
          </p:nvPr>
        </p:nvSpPr>
        <p:spPr>
          <a:xfrm>
            <a:off x="920475" y="1198425"/>
            <a:ext cx="3108900" cy="287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</a:pPr>
            <a:r>
              <a:rPr lang="en" sz="1000">
                <a:solidFill>
                  <a:schemeClr val="accent6"/>
                </a:solidFill>
              </a:rPr>
              <a:t>Install Quartus Prime Pro and physically integrate the Agilex 10 board into the existing farm infrastructure</a:t>
            </a:r>
            <a:endParaRPr sz="1000">
              <a:solidFill>
                <a:schemeClr val="accent6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</a:pPr>
            <a:r>
              <a:rPr lang="en" sz="1000">
                <a:solidFill>
                  <a:schemeClr val="accent6"/>
                </a:solidFill>
              </a:rPr>
              <a:t>Program the Raspberry PI 5 with an Operating System and deploy a LLM using Ollama</a:t>
            </a:r>
            <a:endParaRPr sz="1000">
              <a:solidFill>
                <a:schemeClr val="accent6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</a:pPr>
            <a:r>
              <a:rPr lang="en" sz="1000">
                <a:solidFill>
                  <a:schemeClr val="accent6"/>
                </a:solidFill>
              </a:rPr>
              <a:t>Develop a program to handle AI scripting and evaluation of incoming tasks</a:t>
            </a:r>
            <a:endParaRPr sz="1000">
              <a:solidFill>
                <a:schemeClr val="accent6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</a:pPr>
            <a:r>
              <a:rPr lang="en" sz="1000">
                <a:solidFill>
                  <a:schemeClr val="accent6"/>
                </a:solidFill>
              </a:rPr>
              <a:t>Implement a </a:t>
            </a:r>
            <a:r>
              <a:rPr lang="en" sz="1000">
                <a:solidFill>
                  <a:schemeClr val="accent6"/>
                </a:solidFill>
              </a:rPr>
              <a:t>queue</a:t>
            </a:r>
            <a:r>
              <a:rPr lang="en" sz="1000">
                <a:solidFill>
                  <a:schemeClr val="accent6"/>
                </a:solidFill>
              </a:rPr>
              <a:t> system to minimize wait times for users</a:t>
            </a:r>
            <a:endParaRPr sz="1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</a:endParaRPr>
          </a:p>
        </p:txBody>
      </p:sp>
      <p:sp>
        <p:nvSpPr>
          <p:cNvPr id="473" name="Google Shape;473;p52"/>
          <p:cNvSpPr txBox="1"/>
          <p:nvPr>
            <p:ph idx="2" type="title"/>
          </p:nvPr>
        </p:nvSpPr>
        <p:spPr>
          <a:xfrm>
            <a:off x="5111475" y="1198425"/>
            <a:ext cx="3108900" cy="241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</a:pPr>
            <a:r>
              <a:rPr lang="en" sz="1000">
                <a:solidFill>
                  <a:schemeClr val="accent6"/>
                </a:solidFill>
              </a:rPr>
              <a:t>Build on the existing server communication program to establish communication between the agent and the Ubuntu PC</a:t>
            </a:r>
            <a:endParaRPr sz="1000">
              <a:solidFill>
                <a:schemeClr val="accent6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</a:pPr>
            <a:r>
              <a:rPr lang="en" sz="1000">
                <a:solidFill>
                  <a:schemeClr val="accent6"/>
                </a:solidFill>
              </a:rPr>
              <a:t>Test end-to-end data flow that automatically routes the file, powers on the targeted FPGA, programs it, and powers it off without manual intervention.</a:t>
            </a:r>
            <a:endParaRPr sz="1000">
              <a:solidFill>
                <a:schemeClr val="accent6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</a:pPr>
            <a:r>
              <a:rPr lang="en" sz="1000">
                <a:solidFill>
                  <a:schemeClr val="accent6"/>
                </a:solidFill>
              </a:rPr>
              <a:t>Complete an analysis documenting the total system energy consumption before and after the implementation of the AI Agent</a:t>
            </a:r>
            <a:endParaRPr sz="1000">
              <a:solidFill>
                <a:schemeClr val="accent6"/>
              </a:solidFill>
            </a:endParaRPr>
          </a:p>
        </p:txBody>
      </p:sp>
      <p:pic>
        <p:nvPicPr>
          <p:cNvPr id="474" name="Google Shape;47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350" y="2965525"/>
            <a:ext cx="7311299" cy="15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/>
          <p:nvPr/>
        </p:nvSpPr>
        <p:spPr>
          <a:xfrm>
            <a:off x="7002862" y="619550"/>
            <a:ext cx="2141100" cy="15099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80" name="Google Shape;480;p53"/>
          <p:cNvSpPr/>
          <p:nvPr/>
        </p:nvSpPr>
        <p:spPr>
          <a:xfrm>
            <a:off x="2825150" y="2125400"/>
            <a:ext cx="2325900" cy="15099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81" name="Google Shape;481;p53"/>
          <p:cNvSpPr/>
          <p:nvPr/>
        </p:nvSpPr>
        <p:spPr>
          <a:xfrm>
            <a:off x="7002737" y="3637100"/>
            <a:ext cx="2141100" cy="15099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lide theme title" id="482" name="Google Shape;482;p53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Progress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descr="Slide theme subtitle" id="483" name="Google Shape;483;p53"/>
          <p:cNvSpPr txBox="1"/>
          <p:nvPr>
            <p:ph idx="5" type="title"/>
          </p:nvPr>
        </p:nvSpPr>
        <p:spPr>
          <a:xfrm>
            <a:off x="7243093" y="78349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descr="Slide theme subtitle" id="484" name="Google Shape;484;p53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FPGA Programming</a:t>
            </a:r>
            <a:endParaRPr/>
          </a:p>
        </p:txBody>
      </p:sp>
      <p:sp>
        <p:nvSpPr>
          <p:cNvPr descr="Slide theme subtitle" id="485" name="Google Shape;485;p53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Agentic AI</a:t>
            </a:r>
            <a:endParaRPr/>
          </a:p>
        </p:txBody>
      </p:sp>
      <p:sp>
        <p:nvSpPr>
          <p:cNvPr descr="Slide theme description" id="486" name="Google Shape;486;p53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Programmed a decoder through Quartus and tested </a:t>
            </a:r>
            <a:r>
              <a:rPr lang="en"/>
              <a:t>verilog code through Questa</a:t>
            </a:r>
            <a:endParaRPr/>
          </a:p>
        </p:txBody>
      </p:sp>
      <p:sp>
        <p:nvSpPr>
          <p:cNvPr descr="Slide theme description" id="487" name="Google Shape;487;p53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</a:t>
            </a:r>
            <a:r>
              <a:rPr lang="en"/>
              <a:t>eveloped a Python Proof-of-Concept to simulate the AI routing logic.</a:t>
            </a:r>
            <a:endParaRPr/>
          </a:p>
        </p:txBody>
      </p:sp>
      <p:sp>
        <p:nvSpPr>
          <p:cNvPr descr="Slide theme description" id="488" name="Google Shape;488;p53"/>
          <p:cNvSpPr txBox="1"/>
          <p:nvPr>
            <p:ph idx="9" type="body"/>
          </p:nvPr>
        </p:nvSpPr>
        <p:spPr>
          <a:xfrm>
            <a:off x="7251343" y="110895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Mapping the communication </a:t>
            </a:r>
            <a:r>
              <a:rPr lang="en"/>
              <a:t>framework</a:t>
            </a:r>
            <a:r>
              <a:rPr lang="en"/>
              <a:t> of the host server, </a:t>
            </a:r>
            <a:r>
              <a:rPr lang="en"/>
              <a:t>familiarization</a:t>
            </a:r>
            <a:r>
              <a:rPr lang="en"/>
              <a:t> with FPGA boards, Raspberry PI and locally running AI models</a:t>
            </a:r>
            <a:endParaRPr/>
          </a:p>
        </p:txBody>
      </p:sp>
      <p:pic>
        <p:nvPicPr>
          <p:cNvPr id="489" name="Google Shape;489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66" l="0" r="0" t="13973"/>
          <a:stretch/>
        </p:blipFill>
        <p:spPr>
          <a:xfrm flipH="1">
            <a:off x="4930693" y="619550"/>
            <a:ext cx="2100300" cy="1513500"/>
          </a:xfrm>
          <a:prstGeom prst="snip1Rect">
            <a:avLst>
              <a:gd fmla="val 16667" name="adj"/>
            </a:avLst>
          </a:prstGeom>
        </p:spPr>
      </p:pic>
      <p:pic>
        <p:nvPicPr>
          <p:cNvPr id="490" name="Google Shape;490;p53" title="WhatsApp Image 2026-05-29 at 10.36.53 AM.jpe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2616" l="0" r="0" t="2606"/>
          <a:stretch/>
        </p:blipFill>
        <p:spPr>
          <a:xfrm flipH="1">
            <a:off x="696043" y="2125400"/>
            <a:ext cx="2129100" cy="1513500"/>
          </a:xfrm>
          <a:prstGeom prst="snip1Rect">
            <a:avLst>
              <a:gd fmla="val 16667" name="adj"/>
            </a:avLst>
          </a:prstGeom>
        </p:spPr>
      </p:pic>
      <p:pic>
        <p:nvPicPr>
          <p:cNvPr id="491" name="Google Shape;491;p53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13966" l="0" r="0" t="13973"/>
          <a:stretch/>
        </p:blipFill>
        <p:spPr>
          <a:xfrm flipH="1">
            <a:off x="4930693" y="3635300"/>
            <a:ext cx="2100300" cy="1513500"/>
          </a:xfrm>
          <a:prstGeom prst="snip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/>
          <p:nvPr>
            <p:ph type="title"/>
          </p:nvPr>
        </p:nvSpPr>
        <p:spPr>
          <a:xfrm>
            <a:off x="3298525" y="419100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AI Model</a:t>
            </a:r>
            <a:endParaRPr/>
          </a:p>
        </p:txBody>
      </p:sp>
      <p:pic>
        <p:nvPicPr>
          <p:cNvPr id="497" name="Google Shape;49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575" y="2862850"/>
            <a:ext cx="3482508" cy="1600149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4"/>
          <p:cNvSpPr txBox="1"/>
          <p:nvPr/>
        </p:nvSpPr>
        <p:spPr>
          <a:xfrm>
            <a:off x="733575" y="799227"/>
            <a:ext cx="3482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600" lIns="123600" spcFirstLastPara="1" rIns="123600" wrap="square" tIns="12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2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System Prompt</a:t>
            </a:r>
            <a:endParaRPr sz="1352">
              <a:solidFill>
                <a:srgbClr val="F2F0F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9" name="Google Shape;49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75" y="1195186"/>
            <a:ext cx="3482700" cy="1281312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4"/>
          <p:cNvSpPr txBox="1"/>
          <p:nvPr/>
        </p:nvSpPr>
        <p:spPr>
          <a:xfrm>
            <a:off x="733575" y="2571750"/>
            <a:ext cx="34827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8300" lIns="98300" spcFirstLastPara="1" rIns="98300" wrap="square" tIns="9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Data Collection</a:t>
            </a:r>
            <a:endParaRPr sz="1350">
              <a:solidFill>
                <a:srgbClr val="F2F0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" name="Google Shape;501;p54"/>
          <p:cNvSpPr txBox="1"/>
          <p:nvPr/>
        </p:nvSpPr>
        <p:spPr>
          <a:xfrm>
            <a:off x="5003975" y="702075"/>
            <a:ext cx="286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550" lIns="123550" spcFirstLastPara="1" rIns="123550" wrap="square" tIns="123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1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Agent Communication</a:t>
            </a:r>
            <a:endParaRPr sz="1351">
              <a:solidFill>
                <a:srgbClr val="F2F0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2" name="Google Shape;502;p54"/>
          <p:cNvSpPr txBox="1"/>
          <p:nvPr/>
        </p:nvSpPr>
        <p:spPr>
          <a:xfrm>
            <a:off x="4572000" y="2910588"/>
            <a:ext cx="3920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Result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03" name="Google Shape;50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4400" y="3293325"/>
            <a:ext cx="3920826" cy="11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4113" y="1089550"/>
            <a:ext cx="2861400" cy="1713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Objectives</a:t>
            </a:r>
            <a:endParaRPr/>
          </a:p>
        </p:txBody>
      </p:sp>
      <p:sp>
        <p:nvSpPr>
          <p:cNvPr id="510" name="Google Shape;510;p55"/>
          <p:cNvSpPr txBox="1"/>
          <p:nvPr>
            <p:ph idx="5" type="subTitle"/>
          </p:nvPr>
        </p:nvSpPr>
        <p:spPr>
          <a:xfrm>
            <a:off x="366746" y="1277950"/>
            <a:ext cx="5293800" cy="3390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>
                <a:solidFill>
                  <a:schemeClr val="dk1"/>
                </a:solidFill>
              </a:rPr>
              <a:t>Physically Installing the </a:t>
            </a:r>
            <a:r>
              <a:rPr lang="en">
                <a:solidFill>
                  <a:schemeClr val="dk1"/>
                </a:solidFill>
              </a:rPr>
              <a:t>Agilex</a:t>
            </a:r>
            <a:r>
              <a:rPr lang="en">
                <a:solidFill>
                  <a:schemeClr val="dk1"/>
                </a:solidFill>
              </a:rPr>
              <a:t> 10 Board on the FPGA Farm 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>
                <a:solidFill>
                  <a:schemeClr val="dk1"/>
                </a:solidFill>
              </a:rPr>
              <a:t>Benchmarking AI models on the Raspberry PI 5 board with the AI HAT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>
                <a:solidFill>
                  <a:schemeClr val="dk1"/>
                </a:solidFill>
              </a:rPr>
              <a:t>Further</a:t>
            </a:r>
            <a:r>
              <a:rPr lang="en">
                <a:solidFill>
                  <a:schemeClr val="dk1"/>
                </a:solidFill>
              </a:rPr>
              <a:t> improving </a:t>
            </a:r>
            <a:r>
              <a:rPr lang="en">
                <a:solidFill>
                  <a:schemeClr val="dk1"/>
                </a:solidFill>
              </a:rPr>
              <a:t>functionality</a:t>
            </a:r>
            <a:r>
              <a:rPr lang="en">
                <a:solidFill>
                  <a:schemeClr val="dk1"/>
                </a:solidFill>
              </a:rPr>
              <a:t> of the automation script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>
                <a:solidFill>
                  <a:schemeClr val="dk1"/>
                </a:solidFill>
              </a:rPr>
              <a:t>Test communication between the Raspberry PI and the Ubuntu PC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6"/>
          <p:cNvSpPr txBox="1"/>
          <p:nvPr>
            <p:ph idx="4294967295" type="title"/>
          </p:nvPr>
        </p:nvSpPr>
        <p:spPr>
          <a:xfrm>
            <a:off x="2697750" y="1967550"/>
            <a:ext cx="3748500" cy="1017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000"/>
              <a:t>Thank you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