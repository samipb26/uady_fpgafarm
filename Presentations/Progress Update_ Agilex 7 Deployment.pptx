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y="6858000" cx="12192000"/>
  <p:notesSz cx="6858000" cy="9144000"/>
  <p:embeddedFontLst>
    <p:embeddedFont>
      <p:font typeface="Urbanist SemiBold"/>
      <p:regular r:id="rId18"/>
      <p:bold r:id="rId19"/>
      <p:italic r:id="rId20"/>
      <p:boldItalic r:id="rId21"/>
    </p:embeddedFont>
    <p:embeddedFont>
      <p:font typeface="Urbanist"/>
      <p:regular r:id="rId22"/>
      <p:bold r:id="rId23"/>
      <p:italic r:id="rId24"/>
      <p:boldItalic r:id="rId25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F99C88F8-69C8-4F44-8A94-1202C53C0B83}">
  <a:tblStyle styleId="{F99C88F8-69C8-4F44-8A94-1202C53C0B83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E8ECF4"/>
          </a:solidFill>
        </a:fill>
      </a:tcStyle>
    </a:wholeTbl>
    <a:band1H>
      <a:tcTxStyle/>
      <a:tcStyle>
        <a:fill>
          <a:solidFill>
            <a:srgbClr val="CFD7E7"/>
          </a:solidFill>
        </a:fill>
      </a:tcStyle>
    </a:band1H>
    <a:band2H>
      <a:tcTxStyle/>
    </a:band2H>
    <a:band1V>
      <a:tcTxStyle/>
      <a:tcStyle>
        <a:fill>
          <a:solidFill>
            <a:srgbClr val="CFD7E7"/>
          </a:solidFill>
        </a:fill>
      </a:tcStyle>
    </a:band1V>
    <a:band2V>
      <a:tcTxStyle/>
    </a:band2V>
    <a:la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top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</a:tcBdr>
        <a:fill>
          <a:solidFill>
            <a:schemeClr val="accent1"/>
          </a:solidFill>
        </a:fill>
      </a:tcStyle>
    </a:lastRow>
    <a:seCell>
      <a:tcTxStyle/>
    </a:seCell>
    <a:swCell>
      <a:tcTxStyle/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</a:tcBdr>
        <a:fill>
          <a:solidFill>
            <a:schemeClr val="accent1"/>
          </a:solidFill>
        </a:fill>
      </a:tcStyle>
    </a:firstRow>
    <a:neCell>
      <a:tcTxStyle/>
    </a:neCell>
    <a:nwCell>
      <a:tcTxStyle/>
    </a:nwCell>
  </a:tblStyle>
  <a:tblStyle styleId="{27F8F2C4-C737-414A-A96B-49D4C2D88959}" styleName="Table_1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UrbanistSemiBold-italic.fntdata"/><Relationship Id="rId22" Type="http://schemas.openxmlformats.org/officeDocument/2006/relationships/font" Target="fonts/Urbanist-regular.fntdata"/><Relationship Id="rId21" Type="http://schemas.openxmlformats.org/officeDocument/2006/relationships/font" Target="fonts/UrbanistSemiBold-boldItalic.fntdata"/><Relationship Id="rId24" Type="http://schemas.openxmlformats.org/officeDocument/2006/relationships/font" Target="fonts/Urbanist-italic.fntdata"/><Relationship Id="rId23" Type="http://schemas.openxmlformats.org/officeDocument/2006/relationships/font" Target="fonts/Urbanist-bold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25" Type="http://schemas.openxmlformats.org/officeDocument/2006/relationships/font" Target="fonts/Urbanist-boldItalic.fntdata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font" Target="fonts/UrbanistSemiBold-bold.fntdata"/><Relationship Id="rId18" Type="http://schemas.openxmlformats.org/officeDocument/2006/relationships/font" Target="fonts/UrbanistSemiBold-regular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0" name="Google Shape;90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4" name="Google Shape;104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3" name="Google Shape;123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2" name="Google Shape;152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7" name="Google Shape;167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8" name="Google Shape;188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9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1" name="Google Shape;201;p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g3ed8b9b2ec3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3" name="Google Shape;213;g3ed8b9b2ec3_0_5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0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g3ed8b9b2ec3_0_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2" name="Google Shape;222;g3ed8b9b2ec3_0_24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9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Google Shape;230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1" name="Google Shape;231;p1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3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5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6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6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7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7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7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7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9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9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0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1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2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1.png"/><Relationship Id="rId4" Type="http://schemas.openxmlformats.org/officeDocument/2006/relationships/image" Target="../media/image1.png"/><Relationship Id="rId5" Type="http://schemas.openxmlformats.org/officeDocument/2006/relationships/image" Target="../media/image24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1.png"/><Relationship Id="rId4" Type="http://schemas.openxmlformats.org/officeDocument/2006/relationships/image" Target="../media/image6.png"/><Relationship Id="rId9" Type="http://schemas.openxmlformats.org/officeDocument/2006/relationships/image" Target="../media/image3.png"/><Relationship Id="rId5" Type="http://schemas.openxmlformats.org/officeDocument/2006/relationships/image" Target="../media/image10.png"/><Relationship Id="rId6" Type="http://schemas.openxmlformats.org/officeDocument/2006/relationships/image" Target="../media/image2.png"/><Relationship Id="rId7" Type="http://schemas.openxmlformats.org/officeDocument/2006/relationships/image" Target="../media/image12.png"/><Relationship Id="rId8" Type="http://schemas.openxmlformats.org/officeDocument/2006/relationships/image" Target="../media/image5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1.png"/><Relationship Id="rId4" Type="http://schemas.openxmlformats.org/officeDocument/2006/relationships/image" Target="../media/image16.png"/><Relationship Id="rId5" Type="http://schemas.openxmlformats.org/officeDocument/2006/relationships/image" Target="../media/image1.png"/><Relationship Id="rId6" Type="http://schemas.openxmlformats.org/officeDocument/2006/relationships/image" Target="../media/image4.png"/><Relationship Id="rId7" Type="http://schemas.openxmlformats.org/officeDocument/2006/relationships/image" Target="../media/image11.png"/><Relationship Id="rId8" Type="http://schemas.openxmlformats.org/officeDocument/2006/relationships/image" Target="../media/image22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7.png"/><Relationship Id="rId4" Type="http://schemas.openxmlformats.org/officeDocument/2006/relationships/image" Target="../media/image9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1.png"/><Relationship Id="rId4" Type="http://schemas.openxmlformats.org/officeDocument/2006/relationships/image" Target="../media/image14.png"/><Relationship Id="rId9" Type="http://schemas.openxmlformats.org/officeDocument/2006/relationships/image" Target="../media/image18.png"/><Relationship Id="rId5" Type="http://schemas.openxmlformats.org/officeDocument/2006/relationships/image" Target="../media/image8.png"/><Relationship Id="rId6" Type="http://schemas.openxmlformats.org/officeDocument/2006/relationships/image" Target="../media/image13.png"/><Relationship Id="rId7" Type="http://schemas.openxmlformats.org/officeDocument/2006/relationships/image" Target="../media/image15.png"/><Relationship Id="rId8" Type="http://schemas.openxmlformats.org/officeDocument/2006/relationships/image" Target="../media/image17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21.png"/><Relationship Id="rId4" Type="http://schemas.openxmlformats.org/officeDocument/2006/relationships/image" Target="../media/image19.png"/><Relationship Id="rId5" Type="http://schemas.openxmlformats.org/officeDocument/2006/relationships/image" Target="../media/image20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21.png"/><Relationship Id="rId4" Type="http://schemas.openxmlformats.org/officeDocument/2006/relationships/image" Target="../media/image23.png"/><Relationship Id="rId5" Type="http://schemas.openxmlformats.org/officeDocument/2006/relationships/image" Target="../media/image25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21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21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21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>
            <a:alpha val="0"/>
          </a:srgbClr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84" name="Google Shape;84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13"/>
          <p:cNvSpPr txBox="1"/>
          <p:nvPr/>
        </p:nvSpPr>
        <p:spPr>
          <a:xfrm>
            <a:off x="1333500" y="2114550"/>
            <a:ext cx="9525000" cy="2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500">
                <a:solidFill>
                  <a:srgbClr val="2DD4BF"/>
                </a:solidFill>
                <a:latin typeface="Urbanist"/>
                <a:ea typeface="Urbanist"/>
                <a:cs typeface="Urbanist"/>
                <a:sym typeface="Urbanist"/>
              </a:rPr>
              <a:t>FPGA Farm and </a:t>
            </a:r>
            <a:r>
              <a:rPr b="1" lang="en-US" sz="1500">
                <a:solidFill>
                  <a:srgbClr val="2DD4BF"/>
                </a:solidFill>
                <a:latin typeface="Urbanist"/>
                <a:ea typeface="Urbanist"/>
                <a:cs typeface="Urbanist"/>
                <a:sym typeface="Urbanist"/>
              </a:rPr>
              <a:t>Infrastructure</a:t>
            </a:r>
            <a:endParaRPr/>
          </a:p>
        </p:txBody>
      </p:sp>
      <p:sp>
        <p:nvSpPr>
          <p:cNvPr id="86" name="Google Shape;86;p13"/>
          <p:cNvSpPr txBox="1"/>
          <p:nvPr/>
        </p:nvSpPr>
        <p:spPr>
          <a:xfrm>
            <a:off x="1333500" y="2543175"/>
            <a:ext cx="10001400" cy="1697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5250" u="none" cap="none" strike="noStrik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Progress Update: </a:t>
            </a: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1" i="0" lang="en-US" sz="5250" u="none" cap="none" strike="noStrike">
                <a:solidFill>
                  <a:srgbClr val="2DD4BF"/>
                </a:solidFill>
                <a:latin typeface="Urbanist"/>
                <a:ea typeface="Urbanist"/>
                <a:cs typeface="Urbanist"/>
                <a:sym typeface="Urbanist"/>
              </a:rPr>
              <a:t>DE-10 Agilex 7 &amp; AI</a:t>
            </a:r>
            <a:r>
              <a:rPr b="1" i="0" lang="en-US" sz="5250" u="none" cap="none" strike="noStrik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 Deployment</a:t>
            </a:r>
            <a:endParaRPr/>
          </a:p>
        </p:txBody>
      </p:sp>
      <p:sp>
        <p:nvSpPr>
          <p:cNvPr id="87" name="Google Shape;87;p13"/>
          <p:cNvSpPr txBox="1"/>
          <p:nvPr/>
        </p:nvSpPr>
        <p:spPr>
          <a:xfrm>
            <a:off x="1333500" y="4200525"/>
            <a:ext cx="9525000" cy="129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By: Samip Bhattarai</a:t>
            </a:r>
            <a:endParaRPr sz="2100">
              <a:solidFill>
                <a:srgbClr val="94A3B8"/>
              </a:solidFill>
              <a:latin typeface="Urbanist"/>
              <a:ea typeface="Urbanist"/>
              <a:cs typeface="Urbanist"/>
              <a:sym typeface="Urbanist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15/06/2026</a:t>
            </a:r>
            <a:endParaRPr sz="2100">
              <a:solidFill>
                <a:srgbClr val="94A3B8"/>
              </a:solidFill>
              <a:latin typeface="Urbanist"/>
              <a:ea typeface="Urbanist"/>
              <a:cs typeface="Urbanist"/>
              <a:sym typeface="Urbanist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100">
              <a:solidFill>
                <a:srgbClr val="94A3B8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AFC"/>
        </a:solidFill>
      </p:bgPr>
    </p:bg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92" name="Google Shape;92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93" name="Google Shape;93;p14"/>
          <p:cNvSpPr txBox="1"/>
          <p:nvPr/>
        </p:nvSpPr>
        <p:spPr>
          <a:xfrm>
            <a:off x="962025" y="2299825"/>
            <a:ext cx="4896000" cy="1108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Installation:</a:t>
            </a:r>
            <a:r>
              <a:rPr b="0" i="0" lang="en-US" sz="1800" u="none" cap="none" strike="noStrike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en-US" sz="18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Physically Installing the Agilex 7 Board on the FPGA Farm.</a:t>
            </a:r>
            <a:endParaRPr sz="1800">
              <a:solidFill>
                <a:schemeClr val="lt1"/>
              </a:solidFill>
              <a:latin typeface="Urbanist"/>
              <a:ea typeface="Urbanist"/>
              <a:cs typeface="Urbanist"/>
              <a:sym typeface="Urbanist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94A3B8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94" name="Google Shape;94;p14"/>
          <p:cNvSpPr txBox="1"/>
          <p:nvPr/>
        </p:nvSpPr>
        <p:spPr>
          <a:xfrm>
            <a:off x="962025" y="3289537"/>
            <a:ext cx="4896000" cy="1108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API Development</a:t>
            </a:r>
            <a:r>
              <a:rPr b="1" i="0" lang="en-US" sz="1800" u="none" cap="none" strike="noStrike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:</a:t>
            </a:r>
            <a:r>
              <a:rPr b="0" i="0" lang="en-US" sz="1800" u="none" cap="none" strike="noStrike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en-US" sz="18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Add functionality to analyze a given task, manage board states and control board power.</a:t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95" name="Google Shape;95;p14"/>
          <p:cNvSpPr txBox="1"/>
          <p:nvPr/>
        </p:nvSpPr>
        <p:spPr>
          <a:xfrm>
            <a:off x="962025" y="4595812"/>
            <a:ext cx="4896000" cy="1523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Testing</a:t>
            </a:r>
            <a:r>
              <a:rPr b="1" i="0" lang="en-US" sz="1800" u="none" cap="none" strike="noStrike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:</a:t>
            </a:r>
            <a:r>
              <a:rPr b="0" i="0" lang="en-US" sz="1800" u="none" cap="none" strike="noStrike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en-US" sz="18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Benchmarking AI models as a routing agent on the FPGA Farm accounting for edge cases.</a:t>
            </a:r>
            <a:endParaRPr sz="1800">
              <a:solidFill>
                <a:schemeClr val="lt1"/>
              </a:solidFill>
              <a:latin typeface="Urbanist"/>
              <a:ea typeface="Urbanist"/>
              <a:cs typeface="Urbanist"/>
              <a:sym typeface="Urbanist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94A3B8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96" name="Google Shape;96;p14"/>
          <p:cNvSpPr txBox="1"/>
          <p:nvPr/>
        </p:nvSpPr>
        <p:spPr>
          <a:xfrm>
            <a:off x="771525" y="581025"/>
            <a:ext cx="11381400" cy="5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450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Planned Objectives</a:t>
            </a:r>
            <a:endParaRPr/>
          </a:p>
        </p:txBody>
      </p:sp>
      <p:sp>
        <p:nvSpPr>
          <p:cNvPr id="97" name="Google Shape;97;p14"/>
          <p:cNvSpPr/>
          <p:nvPr/>
        </p:nvSpPr>
        <p:spPr>
          <a:xfrm>
            <a:off x="581025" y="581025"/>
            <a:ext cx="76200" cy="533400"/>
          </a:xfrm>
          <a:prstGeom prst="rect">
            <a:avLst/>
          </a:prstGeom>
          <a:solidFill>
            <a:srgbClr val="2DD4B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98" name="Google Shape;98;p1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81025" y="2347912"/>
            <a:ext cx="123825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99" name="Google Shape;99;p1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81025" y="3329000"/>
            <a:ext cx="123825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00" name="Google Shape;100;p1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81025" y="4595812"/>
            <a:ext cx="123825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1" name="Google Shape;101;p14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127425" y="736625"/>
            <a:ext cx="4038574" cy="53847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20617"/>
        </a:solidFill>
      </p:bgPr>
    </p:bg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06" name="Google Shape;106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07" name="Google Shape;107;p1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81025" y="2076450"/>
            <a:ext cx="3486150" cy="3619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08" name="Google Shape;108;p1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352925" y="2076450"/>
            <a:ext cx="3486150" cy="3619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09" name="Google Shape;109;p15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124825" y="2076450"/>
            <a:ext cx="3486150" cy="3619500"/>
          </a:xfrm>
          <a:prstGeom prst="rect">
            <a:avLst/>
          </a:prstGeom>
          <a:noFill/>
          <a:ln>
            <a:noFill/>
          </a:ln>
        </p:spPr>
      </p:pic>
      <p:sp>
        <p:nvSpPr>
          <p:cNvPr id="110" name="Google Shape;110;p15"/>
          <p:cNvSpPr txBox="1"/>
          <p:nvPr/>
        </p:nvSpPr>
        <p:spPr>
          <a:xfrm>
            <a:off x="893921" y="3286125"/>
            <a:ext cx="2860357" cy="3619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2DD4BF"/>
                </a:solidFill>
                <a:latin typeface="Urbanist"/>
                <a:ea typeface="Urbanist"/>
                <a:cs typeface="Urbanist"/>
                <a:sym typeface="Urbanist"/>
              </a:rPr>
              <a:t>Strict I/O &amp; Voltage</a:t>
            </a:r>
            <a:endParaRPr/>
          </a:p>
        </p:txBody>
      </p:sp>
      <p:sp>
        <p:nvSpPr>
          <p:cNvPr id="111" name="Google Shape;111;p15"/>
          <p:cNvSpPr txBox="1"/>
          <p:nvPr/>
        </p:nvSpPr>
        <p:spPr>
          <a:xfrm>
            <a:off x="876300" y="3790950"/>
            <a:ext cx="2895600" cy="1523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Agilex DE-10 requires highly specific I/O standards compared to older Quatus boards.</a:t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112" name="Google Shape;112;p15"/>
          <p:cNvSpPr txBox="1"/>
          <p:nvPr/>
        </p:nvSpPr>
        <p:spPr>
          <a:xfrm>
            <a:off x="5075872" y="3286125"/>
            <a:ext cx="2040255" cy="3619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2DD4BF"/>
                </a:solidFill>
                <a:latin typeface="Urbanist"/>
                <a:ea typeface="Urbanist"/>
                <a:cs typeface="Urbanist"/>
                <a:sym typeface="Urbanist"/>
              </a:rPr>
              <a:t>SDM &amp; PMBus</a:t>
            </a:r>
            <a:endParaRPr/>
          </a:p>
        </p:txBody>
      </p:sp>
      <p:sp>
        <p:nvSpPr>
          <p:cNvPr id="113" name="Google Shape;113;p15"/>
          <p:cNvSpPr txBox="1"/>
          <p:nvPr/>
        </p:nvSpPr>
        <p:spPr>
          <a:xfrm>
            <a:off x="4648200" y="3790950"/>
            <a:ext cx="2895600" cy="1108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Secure Device Manager (SDM) </a:t>
            </a:r>
            <a:r>
              <a:rPr lang="en-US" sz="18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requires </a:t>
            </a:r>
            <a:r>
              <a:rPr b="0" i="0" lang="en-US" sz="1800" u="none" cap="none" strike="noStrike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explicit Voltage Identification (VID).</a:t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114" name="Google Shape;114;p15"/>
          <p:cNvSpPr txBox="1"/>
          <p:nvPr/>
        </p:nvSpPr>
        <p:spPr>
          <a:xfrm>
            <a:off x="8792765" y="3286125"/>
            <a:ext cx="21504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rgbClr val="2DD4BF"/>
                </a:solidFill>
                <a:latin typeface="Urbanist"/>
                <a:ea typeface="Urbanist"/>
                <a:cs typeface="Urbanist"/>
                <a:sym typeface="Urbanist"/>
              </a:rPr>
              <a:t>Solution</a:t>
            </a:r>
            <a:endParaRPr/>
          </a:p>
        </p:txBody>
      </p:sp>
      <p:sp>
        <p:nvSpPr>
          <p:cNvPr id="115" name="Google Shape;115;p15"/>
          <p:cNvSpPr txBox="1"/>
          <p:nvPr/>
        </p:nvSpPr>
        <p:spPr>
          <a:xfrm>
            <a:off x="8420100" y="3790950"/>
            <a:ext cx="2860200" cy="1546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Altera’s SystemBuilder auto-generates necessary VID assignments to satisfy </a:t>
            </a:r>
            <a:r>
              <a:rPr lang="en-US" sz="195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SDM requirements</a:t>
            </a:r>
            <a:endParaRPr>
              <a:solidFill>
                <a:schemeClr val="lt1"/>
              </a:solidFill>
            </a:endParaRPr>
          </a:p>
        </p:txBody>
      </p:sp>
      <p:pic>
        <p:nvPicPr>
          <p:cNvPr descr="image.png" id="116" name="Google Shape;116;p15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2114550" y="2505075"/>
            <a:ext cx="419100" cy="4762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7" name="Google Shape;117;p15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5857875" y="2505075"/>
            <a:ext cx="476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118" name="Google Shape;118;p15"/>
          <p:cNvSpPr txBox="1"/>
          <p:nvPr/>
        </p:nvSpPr>
        <p:spPr>
          <a:xfrm>
            <a:off x="771525" y="581025"/>
            <a:ext cx="11381400" cy="5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450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Agilex 7 Setup </a:t>
            </a:r>
            <a:r>
              <a:rPr b="1" lang="en-US" sz="3450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Challenge</a:t>
            </a:r>
            <a:endParaRPr/>
          </a:p>
        </p:txBody>
      </p:sp>
      <p:sp>
        <p:nvSpPr>
          <p:cNvPr id="119" name="Google Shape;119;p15"/>
          <p:cNvSpPr/>
          <p:nvPr/>
        </p:nvSpPr>
        <p:spPr>
          <a:xfrm>
            <a:off x="581025" y="581025"/>
            <a:ext cx="76200" cy="533400"/>
          </a:xfrm>
          <a:prstGeom prst="rect">
            <a:avLst/>
          </a:prstGeom>
          <a:solidFill>
            <a:srgbClr val="2DD4B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20" name="Google Shape;120;p15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9493687" y="2394726"/>
            <a:ext cx="748575" cy="6969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20617"/>
        </a:solidFill>
      </p:bgPr>
    </p:bg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25" name="Google Shape;125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26" name="Google Shape;126;p1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334125" y="2981325"/>
            <a:ext cx="5276850" cy="1809750"/>
          </a:xfrm>
          <a:prstGeom prst="rect">
            <a:avLst/>
          </a:prstGeom>
          <a:noFill/>
          <a:ln>
            <a:noFill/>
          </a:ln>
        </p:spPr>
      </p:pic>
      <p:sp>
        <p:nvSpPr>
          <p:cNvPr id="127" name="Google Shape;127;p16"/>
          <p:cNvSpPr txBox="1"/>
          <p:nvPr/>
        </p:nvSpPr>
        <p:spPr>
          <a:xfrm>
            <a:off x="962025" y="2500312"/>
            <a:ext cx="4896000" cy="692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FPGA </a:t>
            </a:r>
            <a:r>
              <a:rPr b="1" i="0" lang="en-US" sz="1800" u="none" cap="none" strike="noStrik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Detection:</a:t>
            </a:r>
            <a:r>
              <a:rPr b="0" i="0" lang="en-US" sz="1800" u="none" cap="none" strike="noStrik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en-US" sz="1800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Can differentiate between </a:t>
            </a:r>
            <a:r>
              <a:rPr b="0" i="0" lang="en-US" sz="1800" u="none" cap="none" strike="noStrik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DE-SoC </a:t>
            </a:r>
            <a:r>
              <a:rPr lang="en-US" sz="1800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boards </a:t>
            </a:r>
            <a:r>
              <a:rPr b="0" i="0" lang="en-US" sz="1800" u="none" cap="none" strike="noStrik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from Agilex 7 boards.</a:t>
            </a:r>
            <a:endParaRPr/>
          </a:p>
        </p:txBody>
      </p:sp>
      <p:sp>
        <p:nvSpPr>
          <p:cNvPr id="128" name="Google Shape;128;p16"/>
          <p:cNvSpPr txBox="1"/>
          <p:nvPr/>
        </p:nvSpPr>
        <p:spPr>
          <a:xfrm>
            <a:off x="962025" y="3424237"/>
            <a:ext cx="4896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Auto-</a:t>
            </a:r>
            <a:r>
              <a:rPr b="1" lang="en-US" sz="1800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Programming</a:t>
            </a:r>
            <a:r>
              <a:rPr b="1" i="0" lang="en-US" sz="1800" u="none" cap="none" strike="noStrik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:</a:t>
            </a:r>
            <a:r>
              <a:rPr b="0" i="0" lang="en-US" sz="1800" u="none" cap="none" strike="noStrik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endParaRPr/>
          </a:p>
        </p:txBody>
      </p:sp>
      <p:sp>
        <p:nvSpPr>
          <p:cNvPr id="129" name="Google Shape;129;p16"/>
          <p:cNvSpPr txBox="1"/>
          <p:nvPr/>
        </p:nvSpPr>
        <p:spPr>
          <a:xfrm>
            <a:off x="962025" y="4348162"/>
            <a:ext cx="4896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Programming Logs</a:t>
            </a:r>
            <a:r>
              <a:rPr b="1" i="0" lang="en-US" sz="1800" u="none" cap="none" strike="noStrik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:</a:t>
            </a:r>
            <a:r>
              <a:rPr b="0" i="0" lang="en-US" sz="1800" u="none" cap="none" strike="noStrik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endParaRPr/>
          </a:p>
        </p:txBody>
      </p:sp>
      <p:sp>
        <p:nvSpPr>
          <p:cNvPr id="130" name="Google Shape;130;p16"/>
          <p:cNvSpPr txBox="1"/>
          <p:nvPr/>
        </p:nvSpPr>
        <p:spPr>
          <a:xfrm>
            <a:off x="6629400" y="3314700"/>
            <a:ext cx="228748" cy="219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C678DD"/>
                </a:solidFill>
                <a:latin typeface="Courier New"/>
                <a:ea typeface="Courier New"/>
                <a:cs typeface="Courier New"/>
                <a:sym typeface="Courier New"/>
              </a:rPr>
              <a:t>if</a:t>
            </a:r>
            <a:endParaRPr/>
          </a:p>
        </p:txBody>
      </p:sp>
      <p:sp>
        <p:nvSpPr>
          <p:cNvPr id="131" name="Google Shape;131;p16"/>
          <p:cNvSpPr txBox="1"/>
          <p:nvPr/>
        </p:nvSpPr>
        <p:spPr>
          <a:xfrm>
            <a:off x="6972597" y="3314700"/>
            <a:ext cx="914548" cy="219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98C379"/>
                </a:solidFill>
                <a:latin typeface="Courier New"/>
                <a:ea typeface="Courier New"/>
                <a:cs typeface="Courier New"/>
                <a:sym typeface="Courier New"/>
              </a:rPr>
              <a:t>"agilex"</a:t>
            </a:r>
            <a:endParaRPr/>
          </a:p>
        </p:txBody>
      </p:sp>
      <p:sp>
        <p:nvSpPr>
          <p:cNvPr id="132" name="Google Shape;132;p16"/>
          <p:cNvSpPr txBox="1"/>
          <p:nvPr/>
        </p:nvSpPr>
        <p:spPr>
          <a:xfrm>
            <a:off x="8001595" y="3314700"/>
            <a:ext cx="228748" cy="219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C678DD"/>
                </a:solidFill>
                <a:latin typeface="Courier New"/>
                <a:ea typeface="Courier New"/>
                <a:cs typeface="Courier New"/>
                <a:sym typeface="Courier New"/>
              </a:rPr>
              <a:t>in</a:t>
            </a:r>
            <a:endParaRPr/>
          </a:p>
        </p:txBody>
      </p:sp>
      <p:sp>
        <p:nvSpPr>
          <p:cNvPr id="133" name="Google Shape;133;p16"/>
          <p:cNvSpPr txBox="1"/>
          <p:nvPr/>
        </p:nvSpPr>
        <p:spPr>
          <a:xfrm>
            <a:off x="9259341" y="3314700"/>
            <a:ext cx="228748" cy="219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C678DD"/>
                </a:solidFill>
                <a:latin typeface="Courier New"/>
                <a:ea typeface="Courier New"/>
                <a:cs typeface="Courier New"/>
                <a:sym typeface="Courier New"/>
              </a:rPr>
              <a:t>or</a:t>
            </a:r>
            <a:endParaRPr/>
          </a:p>
        </p:txBody>
      </p:sp>
      <p:sp>
        <p:nvSpPr>
          <p:cNvPr id="134" name="Google Shape;134;p16"/>
          <p:cNvSpPr txBox="1"/>
          <p:nvPr/>
        </p:nvSpPr>
        <p:spPr>
          <a:xfrm>
            <a:off x="9602539" y="3314700"/>
            <a:ext cx="800248" cy="219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98C379"/>
                </a:solidFill>
                <a:latin typeface="Courier New"/>
                <a:ea typeface="Courier New"/>
                <a:cs typeface="Courier New"/>
                <a:sym typeface="Courier New"/>
              </a:rPr>
              <a:t>"de-10"</a:t>
            </a:r>
            <a:endParaRPr/>
          </a:p>
        </p:txBody>
      </p:sp>
      <p:sp>
        <p:nvSpPr>
          <p:cNvPr id="135" name="Google Shape;135;p16"/>
          <p:cNvSpPr txBox="1"/>
          <p:nvPr/>
        </p:nvSpPr>
        <p:spPr>
          <a:xfrm>
            <a:off x="10517237" y="3314700"/>
            <a:ext cx="228748" cy="219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C678DD"/>
                </a:solidFill>
                <a:latin typeface="Courier New"/>
                <a:ea typeface="Courier New"/>
                <a:cs typeface="Courier New"/>
                <a:sym typeface="Courier New"/>
              </a:rPr>
              <a:t>in</a:t>
            </a:r>
            <a:endParaRPr/>
          </a:p>
        </p:txBody>
      </p:sp>
      <p:sp>
        <p:nvSpPr>
          <p:cNvPr id="136" name="Google Shape;136;p16"/>
          <p:cNvSpPr txBox="1"/>
          <p:nvPr/>
        </p:nvSpPr>
        <p:spPr>
          <a:xfrm>
            <a:off x="7658397" y="3619500"/>
            <a:ext cx="343048" cy="219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C678DD"/>
                </a:solidFill>
                <a:latin typeface="Courier New"/>
                <a:ea typeface="Courier New"/>
                <a:cs typeface="Courier New"/>
                <a:sym typeface="Courier New"/>
              </a:rPr>
              <a:t>try</a:t>
            </a:r>
            <a:endParaRPr/>
          </a:p>
        </p:txBody>
      </p:sp>
      <p:sp>
        <p:nvSpPr>
          <p:cNvPr id="137" name="Google Shape;137;p16"/>
          <p:cNvSpPr txBox="1"/>
          <p:nvPr/>
        </p:nvSpPr>
        <p:spPr>
          <a:xfrm>
            <a:off x="8572946" y="3924300"/>
            <a:ext cx="343048" cy="219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61AFEF"/>
                </a:solidFill>
                <a:latin typeface="Courier New"/>
                <a:ea typeface="Courier New"/>
                <a:cs typeface="Courier New"/>
                <a:sym typeface="Courier New"/>
              </a:rPr>
              <a:t>add</a:t>
            </a:r>
            <a:endParaRPr/>
          </a:p>
        </p:txBody>
      </p:sp>
      <p:sp>
        <p:nvSpPr>
          <p:cNvPr id="138" name="Google Shape;138;p16"/>
          <p:cNvSpPr txBox="1"/>
          <p:nvPr/>
        </p:nvSpPr>
        <p:spPr>
          <a:xfrm>
            <a:off x="9259044" y="3924300"/>
            <a:ext cx="571648" cy="219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61AFEF"/>
                </a:solidFill>
                <a:latin typeface="Courier New"/>
                <a:ea typeface="Courier New"/>
                <a:cs typeface="Courier New"/>
                <a:sym typeface="Courier New"/>
              </a:rPr>
              <a:t>split</a:t>
            </a:r>
            <a:endParaRPr/>
          </a:p>
        </p:txBody>
      </p:sp>
      <p:sp>
        <p:nvSpPr>
          <p:cNvPr id="139" name="Google Shape;139;p16"/>
          <p:cNvSpPr txBox="1"/>
          <p:nvPr/>
        </p:nvSpPr>
        <p:spPr>
          <a:xfrm>
            <a:off x="9945141" y="3924300"/>
            <a:ext cx="457348" cy="219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C678DD"/>
                </a:solidFill>
                <a:latin typeface="Courier New"/>
                <a:ea typeface="Courier New"/>
                <a:cs typeface="Courier New"/>
                <a:sym typeface="Courier New"/>
              </a:rPr>
              <a:t>None</a:t>
            </a:r>
            <a:endParaRPr/>
          </a:p>
        </p:txBody>
      </p:sp>
      <p:sp>
        <p:nvSpPr>
          <p:cNvPr id="140" name="Google Shape;140;p16"/>
          <p:cNvSpPr txBox="1"/>
          <p:nvPr/>
        </p:nvSpPr>
        <p:spPr>
          <a:xfrm>
            <a:off x="7201048" y="4229100"/>
            <a:ext cx="685948" cy="219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C678DD"/>
                </a:solidFill>
                <a:latin typeface="Courier New"/>
                <a:ea typeface="Courier New"/>
                <a:cs typeface="Courier New"/>
                <a:sym typeface="Courier New"/>
              </a:rPr>
              <a:t>except</a:t>
            </a:r>
            <a:endParaRPr/>
          </a:p>
        </p:txBody>
      </p:sp>
      <p:sp>
        <p:nvSpPr>
          <p:cNvPr id="141" name="Google Shape;141;p16"/>
          <p:cNvSpPr txBox="1"/>
          <p:nvPr/>
        </p:nvSpPr>
        <p:spPr>
          <a:xfrm>
            <a:off x="9373195" y="4229100"/>
            <a:ext cx="457348" cy="219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C678DD"/>
                </a:solidFill>
                <a:latin typeface="Courier New"/>
                <a:ea typeface="Courier New"/>
                <a:cs typeface="Courier New"/>
                <a:sym typeface="Courier New"/>
              </a:rPr>
              <a:t>pass</a:t>
            </a:r>
            <a:endParaRPr/>
          </a:p>
        </p:txBody>
      </p:sp>
      <p:sp>
        <p:nvSpPr>
          <p:cNvPr id="142" name="Google Shape;142;p16"/>
          <p:cNvSpPr txBox="1"/>
          <p:nvPr/>
        </p:nvSpPr>
        <p:spPr>
          <a:xfrm>
            <a:off x="771525" y="581025"/>
            <a:ext cx="11381400" cy="5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450" u="none" cap="none" strike="noStrik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Hardware Recognition</a:t>
            </a:r>
            <a:endParaRPr/>
          </a:p>
        </p:txBody>
      </p:sp>
      <p:sp>
        <p:nvSpPr>
          <p:cNvPr id="143" name="Google Shape;143;p16"/>
          <p:cNvSpPr/>
          <p:nvPr/>
        </p:nvSpPr>
        <p:spPr>
          <a:xfrm>
            <a:off x="581025" y="581025"/>
            <a:ext cx="76200" cy="533400"/>
          </a:xfrm>
          <a:prstGeom prst="rect">
            <a:avLst/>
          </a:prstGeom>
          <a:solidFill>
            <a:srgbClr val="2DD4B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144" name="Google Shape;144;p1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81025" y="2547937"/>
            <a:ext cx="123825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45" name="Google Shape;145;p1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81025" y="3471862"/>
            <a:ext cx="123825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46" name="Google Shape;146;p1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81025" y="4395787"/>
            <a:ext cx="123825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47" name="Google Shape;147;p16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6024000" y="2053680"/>
            <a:ext cx="5897100" cy="3665034"/>
          </a:xfrm>
          <a:prstGeom prst="rect">
            <a:avLst/>
          </a:prstGeom>
          <a:noFill/>
          <a:ln>
            <a:noFill/>
          </a:ln>
        </p:spPr>
      </p:pic>
      <p:pic>
        <p:nvPicPr>
          <p:cNvPr id="148" name="Google Shape;148;p16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0" y="-2"/>
            <a:ext cx="12192002" cy="6089205"/>
          </a:xfrm>
          <a:prstGeom prst="rect">
            <a:avLst/>
          </a:prstGeom>
          <a:noFill/>
          <a:ln>
            <a:noFill/>
          </a:ln>
        </p:spPr>
      </p:pic>
      <p:pic>
        <p:nvPicPr>
          <p:cNvPr id="149" name="Google Shape;149;p16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0" y="1097678"/>
            <a:ext cx="12192000" cy="557704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17"/>
          <p:cNvSpPr txBox="1"/>
          <p:nvPr/>
        </p:nvSpPr>
        <p:spPr>
          <a:xfrm>
            <a:off x="771525" y="581025"/>
            <a:ext cx="11381400" cy="5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450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Programming</a:t>
            </a:r>
            <a:r>
              <a:rPr b="1" lang="en-US" sz="3450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 Examples</a:t>
            </a:r>
            <a:endParaRPr/>
          </a:p>
        </p:txBody>
      </p:sp>
      <p:sp>
        <p:nvSpPr>
          <p:cNvPr id="155" name="Google Shape;155;p17"/>
          <p:cNvSpPr/>
          <p:nvPr/>
        </p:nvSpPr>
        <p:spPr>
          <a:xfrm>
            <a:off x="581025" y="581025"/>
            <a:ext cx="76200" cy="533400"/>
          </a:xfrm>
          <a:prstGeom prst="rect">
            <a:avLst/>
          </a:prstGeom>
          <a:solidFill>
            <a:srgbClr val="2DD4B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56" name="Google Shape;156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209550" y="1369725"/>
            <a:ext cx="5628823" cy="4262723"/>
          </a:xfrm>
          <a:prstGeom prst="rect">
            <a:avLst/>
          </a:prstGeom>
          <a:noFill/>
          <a:ln>
            <a:noFill/>
          </a:ln>
        </p:spPr>
      </p:pic>
      <p:pic>
        <p:nvPicPr>
          <p:cNvPr id="157" name="Google Shape;157;p1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00550" y="1373650"/>
            <a:ext cx="5628824" cy="4254876"/>
          </a:xfrm>
          <a:prstGeom prst="rect">
            <a:avLst/>
          </a:prstGeom>
          <a:noFill/>
          <a:ln>
            <a:noFill/>
          </a:ln>
        </p:spPr>
      </p:pic>
      <p:sp>
        <p:nvSpPr>
          <p:cNvPr id="158" name="Google Shape;158;p17"/>
          <p:cNvSpPr/>
          <p:nvPr/>
        </p:nvSpPr>
        <p:spPr>
          <a:xfrm>
            <a:off x="8251175" y="2780525"/>
            <a:ext cx="304500" cy="237000"/>
          </a:xfrm>
          <a:prstGeom prst="leftArrow">
            <a:avLst>
              <a:gd fmla="val 50000" name="adj1"/>
              <a:gd fmla="val 50000" name="adj2"/>
            </a:avLst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9" name="Google Shape;159;p17"/>
          <p:cNvSpPr/>
          <p:nvPr/>
        </p:nvSpPr>
        <p:spPr>
          <a:xfrm>
            <a:off x="8251175" y="3846600"/>
            <a:ext cx="304500" cy="237000"/>
          </a:xfrm>
          <a:prstGeom prst="leftArrow">
            <a:avLst>
              <a:gd fmla="val 50000" name="adj1"/>
              <a:gd fmla="val 50000" name="adj2"/>
            </a:avLst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60" name="Google Shape;160;p17"/>
          <p:cNvCxnSpPr/>
          <p:nvPr/>
        </p:nvCxnSpPr>
        <p:spPr>
          <a:xfrm flipH="1">
            <a:off x="6266050" y="4466725"/>
            <a:ext cx="5400" cy="1161900"/>
          </a:xfrm>
          <a:prstGeom prst="straightConnector1">
            <a:avLst/>
          </a:prstGeom>
          <a:noFill/>
          <a:ln cap="flat" cmpd="sng" w="38100">
            <a:solidFill>
              <a:srgbClr val="FF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61" name="Google Shape;161;p17"/>
          <p:cNvCxnSpPr/>
          <p:nvPr/>
        </p:nvCxnSpPr>
        <p:spPr>
          <a:xfrm flipH="1" rot="10800000">
            <a:off x="6294025" y="4489175"/>
            <a:ext cx="5436900" cy="11400"/>
          </a:xfrm>
          <a:prstGeom prst="straightConnector1">
            <a:avLst/>
          </a:prstGeom>
          <a:noFill/>
          <a:ln cap="flat" cmpd="sng" w="38100">
            <a:solidFill>
              <a:srgbClr val="FF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62" name="Google Shape;162;p17"/>
          <p:cNvCxnSpPr/>
          <p:nvPr/>
        </p:nvCxnSpPr>
        <p:spPr>
          <a:xfrm>
            <a:off x="11730800" y="4500575"/>
            <a:ext cx="11400" cy="1116600"/>
          </a:xfrm>
          <a:prstGeom prst="straightConnector1">
            <a:avLst/>
          </a:prstGeom>
          <a:noFill/>
          <a:ln cap="flat" cmpd="sng" w="38100">
            <a:solidFill>
              <a:srgbClr val="FF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63" name="Google Shape;163;p17"/>
          <p:cNvCxnSpPr/>
          <p:nvPr/>
        </p:nvCxnSpPr>
        <p:spPr>
          <a:xfrm flipH="1" rot="10800000">
            <a:off x="6294025" y="5583475"/>
            <a:ext cx="5470500" cy="22500"/>
          </a:xfrm>
          <a:prstGeom prst="straightConnector1">
            <a:avLst/>
          </a:prstGeom>
          <a:noFill/>
          <a:ln cap="flat" cmpd="sng" w="38100">
            <a:solidFill>
              <a:srgbClr val="FF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64" name="Google Shape;164;p17"/>
          <p:cNvSpPr/>
          <p:nvPr/>
        </p:nvSpPr>
        <p:spPr>
          <a:xfrm rot="10800000">
            <a:off x="10326850" y="2780525"/>
            <a:ext cx="304500" cy="237000"/>
          </a:xfrm>
          <a:prstGeom prst="leftArrow">
            <a:avLst>
              <a:gd fmla="val 50000" name="adj1"/>
              <a:gd fmla="val 50000" name="adj2"/>
            </a:avLst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20617"/>
        </a:solidFill>
      </p:bgPr>
    </p:bg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69" name="Google Shape;169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70" name="Google Shape;170;p1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19150" y="2343150"/>
            <a:ext cx="1457325" cy="4667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71" name="Google Shape;171;p1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19150" y="3781425"/>
            <a:ext cx="1771650" cy="4667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72" name="Google Shape;172;p18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19150" y="5219700"/>
            <a:ext cx="1352550" cy="466725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173" name="Google Shape;173;p18"/>
          <p:cNvGraphicFramePr/>
          <p:nvPr/>
        </p:nvGraphicFramePr>
        <p:xfrm>
          <a:off x="581025" y="1362075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{F99C88F8-69C8-4F44-8A94-1202C53C0B83}</a:tableStyleId>
              </a:tblPr>
              <a:tblGrid>
                <a:gridCol w="3860450"/>
                <a:gridCol w="7169500"/>
              </a:tblGrid>
              <a:tr h="12620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800" u="none" cap="none" strike="noStrike">
                          <a:solidFill>
                            <a:srgbClr val="F8FAFC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Endpoint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800" u="none" cap="none" strike="noStrike">
                          <a:solidFill>
                            <a:srgbClr val="F8FAFC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Functionality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E293B"/>
                    </a:solidFill>
                  </a:tcPr>
                </a:tc>
              </a:tr>
              <a:tr h="12620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br>
                        <a:rPr b="0" i="0" lang="en-US" sz="1650" u="none" cap="none" strike="noStrike">
                          <a:solidFill>
                            <a:srgbClr val="CBD5E1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</a:br>
                      <a:r>
                        <a:rPr b="0" i="0" lang="en-US" sz="1650" u="none" cap="none" strike="noStrike">
                          <a:solidFill>
                            <a:srgbClr val="CBD5E1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          /route_task</a:t>
                      </a:r>
                      <a:br>
                        <a:rPr b="0" i="0" lang="en-US" sz="1650" u="none" cap="none" strike="noStrike">
                          <a:solidFill>
                            <a:srgbClr val="CBD5E1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</a:br>
                      <a:r>
                        <a:rPr b="0" i="0" lang="en-US" sz="1650" u="none" cap="none" strike="noStrike">
                          <a:solidFill>
                            <a:srgbClr val="CBD5E1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         </a:t>
                      </a:r>
                      <a:br>
                        <a:rPr lang="en-US" sz="1800" u="none" cap="none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</a:br>
                      <a:r>
                        <a:rPr b="0" i="0" lang="en-US" sz="1650" u="none" cap="none" strike="noStrike">
                          <a:solidFill>
                            <a:srgbClr val="CBD5E1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POST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650" u="none" cap="none" strike="noStrike">
                          <a:solidFill>
                            <a:srgbClr val="CBD5E1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Ingests telemetry. AI decides architecture (DE-SoC vs Agilex). Allocates &amp; powers board.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2620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br>
                        <a:rPr b="0" i="0" lang="en-US" sz="1650" u="none" cap="none" strike="noStrike">
                          <a:solidFill>
                            <a:srgbClr val="CBD5E1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</a:br>
                      <a:r>
                        <a:rPr b="0" i="0" lang="en-US" sz="1650" u="none" cap="none" strike="noStrike">
                          <a:solidFill>
                            <a:srgbClr val="CBD5E1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          /release_board</a:t>
                      </a:r>
                      <a:br>
                        <a:rPr b="0" i="0" lang="en-US" sz="1650" u="none" cap="none" strike="noStrike">
                          <a:solidFill>
                            <a:srgbClr val="CBD5E1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</a:br>
                      <a:r>
                        <a:rPr b="0" i="0" lang="en-US" sz="1650" u="none" cap="none" strike="noStrike">
                          <a:solidFill>
                            <a:srgbClr val="CBD5E1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         </a:t>
                      </a:r>
                      <a:br>
                        <a:rPr lang="en-US" sz="1800" u="none" cap="none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</a:br>
                      <a:r>
                        <a:rPr b="0" i="0" lang="en-US" sz="1650" u="none" cap="none" strike="noStrike">
                          <a:solidFill>
                            <a:srgbClr val="CBD5E1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POST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650" u="none" cap="none" strike="noStrike">
                          <a:solidFill>
                            <a:srgbClr val="CBD5E1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Marks board as 'idle'. Advances the internal queue. Triggers smart power-down.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2620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br>
                        <a:rPr b="0" i="0" lang="en-US" sz="1650" u="none" cap="none" strike="noStrike">
                          <a:solidFill>
                            <a:srgbClr val="CBD5E1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</a:br>
                      <a:r>
                        <a:rPr b="0" i="0" lang="en-US" sz="1650" u="none" cap="none" strike="noStrike">
                          <a:solidFill>
                            <a:srgbClr val="CBD5E1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          /heartbeat</a:t>
                      </a:r>
                      <a:br>
                        <a:rPr b="0" i="0" lang="en-US" sz="1650" u="none" cap="none" strike="noStrike">
                          <a:solidFill>
                            <a:srgbClr val="CBD5E1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</a:br>
                      <a:r>
                        <a:rPr b="0" i="0" lang="en-US" sz="1650" u="none" cap="none" strike="noStrike">
                          <a:solidFill>
                            <a:srgbClr val="CBD5E1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         </a:t>
                      </a:r>
                      <a:br>
                        <a:rPr lang="en-US" sz="1800" u="none" cap="none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</a:br>
                      <a:r>
                        <a:rPr b="0" i="0" lang="en-US" sz="1650" u="none" cap="none" strike="noStrike">
                          <a:solidFill>
                            <a:srgbClr val="CBD5E1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POST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650" u="none" cap="none" strike="noStrike">
                          <a:solidFill>
                            <a:srgbClr val="CBD5E1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Keep-alive signal. Prevents background watchdog threads from forcefully timing out tasks.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174" name="Google Shape;174;p18"/>
          <p:cNvSpPr/>
          <p:nvPr/>
        </p:nvSpPr>
        <p:spPr>
          <a:xfrm>
            <a:off x="581025" y="2076450"/>
            <a:ext cx="3860452" cy="19050"/>
          </a:xfrm>
          <a:prstGeom prst="rect">
            <a:avLst/>
          </a:prstGeom>
          <a:solidFill>
            <a:srgbClr val="2DD4B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5" name="Google Shape;175;p18"/>
          <p:cNvSpPr/>
          <p:nvPr/>
        </p:nvSpPr>
        <p:spPr>
          <a:xfrm>
            <a:off x="4441477" y="2076450"/>
            <a:ext cx="7169497" cy="19050"/>
          </a:xfrm>
          <a:prstGeom prst="rect">
            <a:avLst/>
          </a:prstGeom>
          <a:solidFill>
            <a:srgbClr val="2DD4B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6" name="Google Shape;176;p18"/>
          <p:cNvSpPr/>
          <p:nvPr/>
        </p:nvSpPr>
        <p:spPr>
          <a:xfrm>
            <a:off x="581025" y="3529012"/>
            <a:ext cx="3860452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7" name="Google Shape;177;p18"/>
          <p:cNvSpPr/>
          <p:nvPr/>
        </p:nvSpPr>
        <p:spPr>
          <a:xfrm>
            <a:off x="4441477" y="3529012"/>
            <a:ext cx="7169497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8" name="Google Shape;178;p18"/>
          <p:cNvSpPr/>
          <p:nvPr/>
        </p:nvSpPr>
        <p:spPr>
          <a:xfrm>
            <a:off x="581025" y="4967287"/>
            <a:ext cx="3860452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9" name="Google Shape;179;p18"/>
          <p:cNvSpPr/>
          <p:nvPr/>
        </p:nvSpPr>
        <p:spPr>
          <a:xfrm>
            <a:off x="4441477" y="4967287"/>
            <a:ext cx="7169497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180" name="Google Shape;180;p18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819150" y="2905125"/>
            <a:ext cx="685800" cy="3905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81" name="Google Shape;181;p18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819150" y="4343400"/>
            <a:ext cx="685800" cy="3905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82" name="Google Shape;182;p18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819150" y="5781675"/>
            <a:ext cx="685800" cy="390525"/>
          </a:xfrm>
          <a:prstGeom prst="rect">
            <a:avLst/>
          </a:prstGeom>
          <a:noFill/>
          <a:ln>
            <a:noFill/>
          </a:ln>
        </p:spPr>
      </p:pic>
      <p:sp>
        <p:nvSpPr>
          <p:cNvPr id="183" name="Google Shape;183;p18"/>
          <p:cNvSpPr txBox="1"/>
          <p:nvPr/>
        </p:nvSpPr>
        <p:spPr>
          <a:xfrm>
            <a:off x="771525" y="447675"/>
            <a:ext cx="11381422" cy="533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450" u="none" cap="none" strike="noStrik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Core API Endpoints</a:t>
            </a:r>
            <a:endParaRPr/>
          </a:p>
        </p:txBody>
      </p:sp>
      <p:sp>
        <p:nvSpPr>
          <p:cNvPr id="184" name="Google Shape;184;p18"/>
          <p:cNvSpPr/>
          <p:nvPr/>
        </p:nvSpPr>
        <p:spPr>
          <a:xfrm>
            <a:off x="581025" y="447675"/>
            <a:ext cx="76200" cy="533400"/>
          </a:xfrm>
          <a:prstGeom prst="rect">
            <a:avLst/>
          </a:prstGeom>
          <a:solidFill>
            <a:srgbClr val="2DD4B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85" name="Google Shape;185;p18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0" y="13625"/>
            <a:ext cx="12152950" cy="680889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20617"/>
        </a:solidFill>
      </p:bgPr>
    </p:bg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90" name="Google Shape;190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91" name="Google Shape;191;p1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81025" y="1922700"/>
            <a:ext cx="5276850" cy="30861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92" name="Google Shape;192;p1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334125" y="1922700"/>
            <a:ext cx="5276850" cy="3086100"/>
          </a:xfrm>
          <a:prstGeom prst="rect">
            <a:avLst/>
          </a:prstGeom>
          <a:noFill/>
          <a:ln>
            <a:noFill/>
          </a:ln>
        </p:spPr>
      </p:pic>
      <p:sp>
        <p:nvSpPr>
          <p:cNvPr id="193" name="Google Shape;193;p19"/>
          <p:cNvSpPr txBox="1"/>
          <p:nvPr/>
        </p:nvSpPr>
        <p:spPr>
          <a:xfrm>
            <a:off x="971550" y="2203000"/>
            <a:ext cx="47205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rgbClr val="2DD4BF"/>
                </a:solidFill>
                <a:latin typeface="Urbanist"/>
                <a:ea typeface="Urbanist"/>
                <a:cs typeface="Urbanist"/>
                <a:sym typeface="Urbanist"/>
              </a:rPr>
              <a:t>Model Type</a:t>
            </a:r>
            <a:endParaRPr/>
          </a:p>
        </p:txBody>
      </p:sp>
      <p:sp>
        <p:nvSpPr>
          <p:cNvPr id="194" name="Google Shape;194;p19"/>
          <p:cNvSpPr txBox="1"/>
          <p:nvPr/>
        </p:nvSpPr>
        <p:spPr>
          <a:xfrm>
            <a:off x="971550" y="2784674"/>
            <a:ext cx="4495800" cy="2093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rgbClr val="F8FAFC"/>
                </a:solidFill>
                <a:latin typeface="Urbanist SemiBold"/>
                <a:ea typeface="Urbanist SemiBold"/>
                <a:cs typeface="Urbanist SemiBold"/>
                <a:sym typeface="Urbanist SemiBold"/>
              </a:rPr>
              <a:t>Reasoning Model: </a:t>
            </a:r>
            <a:r>
              <a:rPr lang="en-US" sz="16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Form answers </a:t>
            </a:r>
            <a:r>
              <a:rPr lang="en-US" sz="16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through</a:t>
            </a:r>
            <a:r>
              <a:rPr lang="en-US" sz="16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 Chain-of-Thought. Typically smarter however adds latency to responses.</a:t>
            </a:r>
            <a:endParaRPr sz="1600">
              <a:solidFill>
                <a:schemeClr val="lt1"/>
              </a:solidFill>
              <a:latin typeface="Urbanist"/>
              <a:ea typeface="Urbanist"/>
              <a:cs typeface="Urbanist"/>
              <a:sym typeface="Urbanist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-US" sz="16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rPr>
              <a:t>General Purpose </a:t>
            </a:r>
            <a:r>
              <a:rPr lang="en-US" sz="16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rPr>
              <a:t>Model: </a:t>
            </a:r>
            <a:r>
              <a:rPr lang="en-US" sz="16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From answers fast and don’t overthink. Keep latency minimal especially with tasks such as reading JSON files.</a:t>
            </a:r>
            <a:endParaRPr sz="1600">
              <a:solidFill>
                <a:schemeClr val="lt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195" name="Google Shape;195;p19"/>
          <p:cNvSpPr txBox="1"/>
          <p:nvPr/>
        </p:nvSpPr>
        <p:spPr>
          <a:xfrm>
            <a:off x="6724650" y="2203000"/>
            <a:ext cx="47205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rgbClr val="2DD4BF"/>
                </a:solidFill>
                <a:latin typeface="Urbanist"/>
                <a:ea typeface="Urbanist"/>
                <a:cs typeface="Urbanist"/>
                <a:sym typeface="Urbanist"/>
              </a:rPr>
              <a:t>Methodology</a:t>
            </a:r>
            <a:endParaRPr/>
          </a:p>
        </p:txBody>
      </p:sp>
      <p:sp>
        <p:nvSpPr>
          <p:cNvPr id="196" name="Google Shape;196;p19"/>
          <p:cNvSpPr txBox="1"/>
          <p:nvPr/>
        </p:nvSpPr>
        <p:spPr>
          <a:xfrm>
            <a:off x="6724650" y="2784675"/>
            <a:ext cx="4495800" cy="2093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33020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Urbanist"/>
              <a:buChar char="-"/>
            </a:pPr>
            <a:r>
              <a:rPr lang="en-US" sz="16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A python file generates synthetic .flow.rpt files for each family of FPGA Boards.</a:t>
            </a:r>
            <a:endParaRPr sz="1600">
              <a:solidFill>
                <a:schemeClr val="lt1"/>
              </a:solidFill>
              <a:latin typeface="Urbanist"/>
              <a:ea typeface="Urbanist"/>
              <a:cs typeface="Urbanist"/>
              <a:sym typeface="Urbanist"/>
            </a:endParaRPr>
          </a:p>
          <a:p>
            <a:pPr indent="-33020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Urbanist"/>
              <a:buChar char="-"/>
            </a:pPr>
            <a:r>
              <a:rPr lang="en-US" sz="16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Invalid .flow.rpt files were also created to test edge cases for the Agent.</a:t>
            </a:r>
            <a:endParaRPr sz="1600">
              <a:solidFill>
                <a:schemeClr val="lt1"/>
              </a:solidFill>
              <a:latin typeface="Urbanist"/>
              <a:ea typeface="Urbanist"/>
              <a:cs typeface="Urbanist"/>
              <a:sym typeface="Urbanist"/>
            </a:endParaRPr>
          </a:p>
          <a:p>
            <a:pPr indent="-33020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Urbanist"/>
              <a:buChar char="-"/>
            </a:pPr>
            <a:r>
              <a:rPr lang="en-US" sz="16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Built in answer validation by checking the family of the .flow.rpt.</a:t>
            </a:r>
            <a:endParaRPr sz="1600">
              <a:solidFill>
                <a:schemeClr val="lt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197" name="Google Shape;197;p19"/>
          <p:cNvSpPr txBox="1"/>
          <p:nvPr/>
        </p:nvSpPr>
        <p:spPr>
          <a:xfrm>
            <a:off x="771525" y="581025"/>
            <a:ext cx="11381400" cy="5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450" u="none" cap="none" strike="noStrik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AI</a:t>
            </a:r>
            <a:r>
              <a:rPr b="1" lang="en-US" sz="3450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 Agent Testing</a:t>
            </a:r>
            <a:endParaRPr/>
          </a:p>
        </p:txBody>
      </p:sp>
      <p:sp>
        <p:nvSpPr>
          <p:cNvPr id="198" name="Google Shape;198;p19"/>
          <p:cNvSpPr/>
          <p:nvPr/>
        </p:nvSpPr>
        <p:spPr>
          <a:xfrm>
            <a:off x="581025" y="581025"/>
            <a:ext cx="76200" cy="533400"/>
          </a:xfrm>
          <a:prstGeom prst="rect">
            <a:avLst/>
          </a:prstGeom>
          <a:solidFill>
            <a:srgbClr val="2DD4B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20617"/>
        </a:solidFill>
      </p:bgPr>
    </p:bg>
    <p:spTree>
      <p:nvGrpSpPr>
        <p:cNvPr id="202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03" name="Google Shape;203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04" name="Google Shape;204;p20"/>
          <p:cNvSpPr txBox="1"/>
          <p:nvPr/>
        </p:nvSpPr>
        <p:spPr>
          <a:xfrm>
            <a:off x="3696300" y="4253526"/>
            <a:ext cx="47994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5" name="Google Shape;205;p20"/>
          <p:cNvSpPr txBox="1"/>
          <p:nvPr/>
        </p:nvSpPr>
        <p:spPr>
          <a:xfrm>
            <a:off x="771525" y="581025"/>
            <a:ext cx="11381422" cy="533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450" u="none" cap="none" strike="noStrik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Evaluating LLM Routing Models</a:t>
            </a:r>
            <a:endParaRPr/>
          </a:p>
        </p:txBody>
      </p:sp>
      <p:sp>
        <p:nvSpPr>
          <p:cNvPr id="206" name="Google Shape;206;p20"/>
          <p:cNvSpPr/>
          <p:nvPr/>
        </p:nvSpPr>
        <p:spPr>
          <a:xfrm>
            <a:off x="581025" y="581025"/>
            <a:ext cx="76200" cy="533400"/>
          </a:xfrm>
          <a:prstGeom prst="rect">
            <a:avLst/>
          </a:prstGeom>
          <a:solidFill>
            <a:srgbClr val="2DD4B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07" name="Google Shape;207;p20" title="qwen2.57b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025675" y="1245325"/>
            <a:ext cx="6314074" cy="2525630"/>
          </a:xfrm>
          <a:prstGeom prst="rect">
            <a:avLst/>
          </a:prstGeom>
          <a:noFill/>
          <a:ln>
            <a:noFill/>
          </a:ln>
        </p:spPr>
      </p:pic>
      <p:pic>
        <p:nvPicPr>
          <p:cNvPr id="208" name="Google Shape;208;p20" title="qwen2.57bv4.png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81025" y="3824900"/>
            <a:ext cx="6314063" cy="2525625"/>
          </a:xfrm>
          <a:prstGeom prst="rect">
            <a:avLst/>
          </a:prstGeom>
          <a:noFill/>
          <a:ln>
            <a:noFill/>
          </a:ln>
        </p:spPr>
      </p:pic>
      <p:sp>
        <p:nvSpPr>
          <p:cNvPr id="209" name="Google Shape;209;p20"/>
          <p:cNvSpPr txBox="1"/>
          <p:nvPr/>
        </p:nvSpPr>
        <p:spPr>
          <a:xfrm>
            <a:off x="563975" y="1376100"/>
            <a:ext cx="4275000" cy="226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Prompt Engineering (Before)</a:t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Char char="-"/>
            </a:pPr>
            <a:r>
              <a:rPr lang="en-US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Task given as a list</a:t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Char char="-"/>
            </a:pPr>
            <a:r>
              <a:rPr lang="en-US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Only the capability of De-SoC board mentioned</a:t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Char char="-"/>
            </a:pPr>
            <a:r>
              <a:rPr lang="en-US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Uninformed of FPGA boards other than Agilex or De-SoC</a:t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Char char="-"/>
            </a:pPr>
            <a:r>
              <a:rPr lang="en-US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Edge Cases not mentioned</a:t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0" name="Google Shape;210;p20"/>
          <p:cNvSpPr txBox="1"/>
          <p:nvPr/>
        </p:nvSpPr>
        <p:spPr>
          <a:xfrm>
            <a:off x="7064750" y="3955663"/>
            <a:ext cx="4275000" cy="226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Prompt Engineering (After)</a:t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Char char="-"/>
            </a:pPr>
            <a:r>
              <a:rPr lang="en-US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Task given as a step by step algorithm and forced to </a:t>
            </a:r>
            <a:r>
              <a:rPr lang="en-US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evaluate</a:t>
            </a:r>
            <a:r>
              <a:rPr lang="en-US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decisions</a:t>
            </a:r>
            <a:r>
              <a:rPr lang="en-US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 step by step</a:t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Char char="-"/>
            </a:pPr>
            <a:r>
              <a:rPr lang="en-US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Implemented strict limits of </a:t>
            </a:r>
            <a:r>
              <a:rPr lang="en-US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Agilex</a:t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Char char="-"/>
            </a:pPr>
            <a:r>
              <a:rPr lang="en-US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Rules added for boards other than De-SoC or Agilex</a:t>
            </a:r>
            <a:r>
              <a:rPr lang="en-US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20617"/>
        </a:solidFill>
      </p:bgPr>
    </p:bg>
    <p:spTree>
      <p:nvGrpSpPr>
        <p:cNvPr id="214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15" name="Google Shape;215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16" name="Google Shape;216;p21"/>
          <p:cNvSpPr txBox="1"/>
          <p:nvPr/>
        </p:nvSpPr>
        <p:spPr>
          <a:xfrm>
            <a:off x="3696300" y="4253526"/>
            <a:ext cx="47994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7" name="Google Shape;217;p21"/>
          <p:cNvSpPr txBox="1"/>
          <p:nvPr/>
        </p:nvSpPr>
        <p:spPr>
          <a:xfrm>
            <a:off x="771525" y="581025"/>
            <a:ext cx="11381400" cy="5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450" u="none" cap="none" strike="noStrik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Evaluating LLM Routing Models</a:t>
            </a:r>
            <a:endParaRPr/>
          </a:p>
        </p:txBody>
      </p:sp>
      <p:sp>
        <p:nvSpPr>
          <p:cNvPr id="218" name="Google Shape;218;p21"/>
          <p:cNvSpPr/>
          <p:nvPr/>
        </p:nvSpPr>
        <p:spPr>
          <a:xfrm>
            <a:off x="581025" y="581025"/>
            <a:ext cx="76200" cy="533400"/>
          </a:xfrm>
          <a:prstGeom prst="rect">
            <a:avLst/>
          </a:prstGeom>
          <a:solidFill>
            <a:srgbClr val="2DD4B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219" name="Google Shape;219;p21"/>
          <p:cNvGraphicFramePr/>
          <p:nvPr/>
        </p:nvGraphicFramePr>
        <p:xfrm>
          <a:off x="952500" y="18336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{27F8F2C4-C737-414A-A96B-49D4C2D88959}</a:tableStyleId>
              </a:tblPr>
              <a:tblGrid>
                <a:gridCol w="3335000"/>
                <a:gridCol w="3335000"/>
                <a:gridCol w="3335000"/>
              </a:tblGrid>
              <a:tr h="8744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>
                          <a:solidFill>
                            <a:srgbClr val="F8FAFC"/>
                          </a:solidFill>
                        </a:rPr>
                        <a:t>LLM Model</a:t>
                      </a:r>
                      <a:endParaRPr>
                        <a:solidFill>
                          <a:srgbClr val="F8FAFC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76200">
                      <a:solidFill>
                        <a:srgbClr val="33415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00">
                      <a:solidFill>
                        <a:srgbClr val="33415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00">
                      <a:solidFill>
                        <a:srgbClr val="33415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00">
                      <a:solidFill>
                        <a:srgbClr val="33415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>
                          <a:solidFill>
                            <a:srgbClr val="F8FAFC"/>
                          </a:solidFill>
                        </a:rPr>
                        <a:t>Accuracy (%)</a:t>
                      </a:r>
                      <a:endParaRPr>
                        <a:solidFill>
                          <a:srgbClr val="F8FAFC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76200">
                      <a:solidFill>
                        <a:srgbClr val="33415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00">
                      <a:solidFill>
                        <a:srgbClr val="33415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00">
                      <a:solidFill>
                        <a:srgbClr val="33415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00">
                      <a:solidFill>
                        <a:srgbClr val="33415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>
                          <a:solidFill>
                            <a:srgbClr val="F8FAFC"/>
                          </a:solidFill>
                        </a:rPr>
                        <a:t>Average </a:t>
                      </a:r>
                      <a:r>
                        <a:rPr lang="en-US">
                          <a:solidFill>
                            <a:srgbClr val="F8FAFC"/>
                          </a:solidFill>
                        </a:rPr>
                        <a:t>Response Time (ms)</a:t>
                      </a:r>
                      <a:endParaRPr>
                        <a:solidFill>
                          <a:srgbClr val="F8FAFC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76200">
                      <a:solidFill>
                        <a:srgbClr val="33415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00">
                      <a:solidFill>
                        <a:srgbClr val="33415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00">
                      <a:solidFill>
                        <a:srgbClr val="33415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00">
                      <a:solidFill>
                        <a:srgbClr val="33415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8744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>
                          <a:solidFill>
                            <a:srgbClr val="F8FAFC"/>
                          </a:solidFill>
                        </a:rPr>
                        <a:t>DeepSeek R1: 8B</a:t>
                      </a:r>
                      <a:endParaRPr>
                        <a:solidFill>
                          <a:srgbClr val="F8FAFC"/>
                        </a:solidFill>
                      </a:endParaRPr>
                    </a:p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>
                          <a:solidFill>
                            <a:srgbClr val="F8FAFC"/>
                          </a:solidFill>
                        </a:rPr>
                        <a:t>(Deep Reasoning)</a:t>
                      </a:r>
                      <a:endParaRPr>
                        <a:solidFill>
                          <a:srgbClr val="F8FAFC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76200">
                      <a:solidFill>
                        <a:srgbClr val="33415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00">
                      <a:solidFill>
                        <a:srgbClr val="33415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00">
                      <a:solidFill>
                        <a:srgbClr val="33415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00">
                      <a:solidFill>
                        <a:srgbClr val="33415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>
                          <a:solidFill>
                            <a:srgbClr val="F8FAFC"/>
                          </a:solidFill>
                        </a:rPr>
                        <a:t>100.0%</a:t>
                      </a:r>
                      <a:endParaRPr>
                        <a:solidFill>
                          <a:srgbClr val="F8FAFC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76200">
                      <a:solidFill>
                        <a:srgbClr val="33415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00">
                      <a:solidFill>
                        <a:srgbClr val="33415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00">
                      <a:solidFill>
                        <a:srgbClr val="33415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00">
                      <a:solidFill>
                        <a:srgbClr val="33415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>
                          <a:solidFill>
                            <a:srgbClr val="F8FAFC"/>
                          </a:solidFill>
                        </a:rPr>
                        <a:t>26,537 ms </a:t>
                      </a:r>
                      <a:endParaRPr>
                        <a:solidFill>
                          <a:srgbClr val="F8FAFC"/>
                        </a:solidFill>
                      </a:endParaRPr>
                    </a:p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>
                          <a:solidFill>
                            <a:srgbClr val="F8FAFC"/>
                          </a:solidFill>
                        </a:rPr>
                        <a:t>(26.5 s)</a:t>
                      </a:r>
                      <a:endParaRPr>
                        <a:solidFill>
                          <a:srgbClr val="F8FAFC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76200">
                      <a:solidFill>
                        <a:srgbClr val="33415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00">
                      <a:solidFill>
                        <a:srgbClr val="33415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00">
                      <a:solidFill>
                        <a:srgbClr val="33415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00">
                      <a:solidFill>
                        <a:srgbClr val="33415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8744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>
                          <a:solidFill>
                            <a:srgbClr val="F8FAFC"/>
                          </a:solidFill>
                        </a:rPr>
                        <a:t>Llama 3.1: 8B</a:t>
                      </a:r>
                      <a:endParaRPr>
                        <a:solidFill>
                          <a:srgbClr val="F8FAFC"/>
                        </a:solidFill>
                      </a:endParaRPr>
                    </a:p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>
                          <a:solidFill>
                            <a:srgbClr val="F8FAFC"/>
                          </a:solidFill>
                        </a:rPr>
                        <a:t>(General Purpose)</a:t>
                      </a:r>
                      <a:endParaRPr>
                        <a:solidFill>
                          <a:srgbClr val="F8FAFC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76200">
                      <a:solidFill>
                        <a:srgbClr val="33415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00">
                      <a:solidFill>
                        <a:srgbClr val="33415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00">
                      <a:solidFill>
                        <a:srgbClr val="33415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00">
                      <a:solidFill>
                        <a:srgbClr val="33415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>
                          <a:solidFill>
                            <a:srgbClr val="F8FAFC"/>
                          </a:solidFill>
                        </a:rPr>
                        <a:t>96.0%</a:t>
                      </a:r>
                      <a:endParaRPr>
                        <a:solidFill>
                          <a:srgbClr val="F8FAFC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76200">
                      <a:solidFill>
                        <a:srgbClr val="33415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00">
                      <a:solidFill>
                        <a:srgbClr val="33415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00">
                      <a:solidFill>
                        <a:srgbClr val="33415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00">
                      <a:solidFill>
                        <a:srgbClr val="33415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>
                          <a:solidFill>
                            <a:srgbClr val="F8FAFC"/>
                          </a:solidFill>
                        </a:rPr>
                        <a:t>906 ms</a:t>
                      </a:r>
                      <a:endParaRPr>
                        <a:solidFill>
                          <a:srgbClr val="F8FAFC"/>
                        </a:solidFill>
                      </a:endParaRPr>
                    </a:p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>
                          <a:solidFill>
                            <a:srgbClr val="F8FAFC"/>
                          </a:solidFill>
                        </a:rPr>
                        <a:t>(0.9 s)</a:t>
                      </a:r>
                      <a:endParaRPr>
                        <a:solidFill>
                          <a:srgbClr val="F8FAFC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76200">
                      <a:solidFill>
                        <a:srgbClr val="33415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00">
                      <a:solidFill>
                        <a:srgbClr val="33415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00">
                      <a:solidFill>
                        <a:srgbClr val="33415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00">
                      <a:solidFill>
                        <a:srgbClr val="33415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8744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>
                          <a:solidFill>
                            <a:srgbClr val="F8FAFC"/>
                          </a:solidFill>
                        </a:rPr>
                        <a:t>Llama 3.1: 1B</a:t>
                      </a:r>
                      <a:endParaRPr>
                        <a:solidFill>
                          <a:srgbClr val="F8FAFC"/>
                        </a:solidFill>
                      </a:endParaRPr>
                    </a:p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>
                          <a:solidFill>
                            <a:srgbClr val="F8FAFC"/>
                          </a:solidFill>
                        </a:rPr>
                        <a:t>(Ultra Small)</a:t>
                      </a:r>
                      <a:endParaRPr>
                        <a:solidFill>
                          <a:srgbClr val="F8FAFC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76200">
                      <a:solidFill>
                        <a:srgbClr val="33415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00">
                      <a:solidFill>
                        <a:srgbClr val="33415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00">
                      <a:solidFill>
                        <a:srgbClr val="33415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00">
                      <a:solidFill>
                        <a:srgbClr val="33415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>
                          <a:solidFill>
                            <a:srgbClr val="F8FAFC"/>
                          </a:solidFill>
                        </a:rPr>
                        <a:t>56.0%</a:t>
                      </a:r>
                      <a:endParaRPr>
                        <a:solidFill>
                          <a:srgbClr val="F8FAFC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76200">
                      <a:solidFill>
                        <a:srgbClr val="33415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00">
                      <a:solidFill>
                        <a:srgbClr val="33415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00">
                      <a:solidFill>
                        <a:srgbClr val="33415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00">
                      <a:solidFill>
                        <a:srgbClr val="33415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>
                          <a:solidFill>
                            <a:srgbClr val="F8FAFC"/>
                          </a:solidFill>
                        </a:rPr>
                        <a:t>541 ms</a:t>
                      </a:r>
                      <a:endParaRPr>
                        <a:solidFill>
                          <a:srgbClr val="F8FAFC"/>
                        </a:solidFill>
                      </a:endParaRPr>
                    </a:p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>
                          <a:solidFill>
                            <a:srgbClr val="F8FAFC"/>
                          </a:solidFill>
                        </a:rPr>
                        <a:t>(0.5 s)</a:t>
                      </a:r>
                      <a:endParaRPr>
                        <a:solidFill>
                          <a:srgbClr val="F8FAFC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76200">
                      <a:solidFill>
                        <a:srgbClr val="33415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00">
                      <a:solidFill>
                        <a:srgbClr val="33415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00">
                      <a:solidFill>
                        <a:srgbClr val="33415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00">
                      <a:solidFill>
                        <a:srgbClr val="33415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8744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>
                          <a:solidFill>
                            <a:srgbClr val="F8FAFC"/>
                          </a:solidFill>
                        </a:rPr>
                        <a:t>Qwen 2.5: 7B</a:t>
                      </a:r>
                      <a:endParaRPr>
                        <a:solidFill>
                          <a:srgbClr val="F8FAFC"/>
                        </a:solidFill>
                      </a:endParaRPr>
                    </a:p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>
                          <a:solidFill>
                            <a:srgbClr val="F8FAFC"/>
                          </a:solidFill>
                        </a:rPr>
                        <a:t>(General Purpose)</a:t>
                      </a:r>
                      <a:endParaRPr>
                        <a:solidFill>
                          <a:srgbClr val="F8FAFC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76200">
                      <a:solidFill>
                        <a:srgbClr val="33415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00">
                      <a:solidFill>
                        <a:srgbClr val="33415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00">
                      <a:solidFill>
                        <a:srgbClr val="33415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00">
                      <a:solidFill>
                        <a:srgbClr val="33415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>
                          <a:solidFill>
                            <a:srgbClr val="F8FAFC"/>
                          </a:solidFill>
                        </a:rPr>
                        <a:t>92</a:t>
                      </a:r>
                      <a:r>
                        <a:rPr lang="en-US">
                          <a:solidFill>
                            <a:srgbClr val="F8FAFC"/>
                          </a:solidFill>
                        </a:rPr>
                        <a:t>.0%</a:t>
                      </a:r>
                      <a:endParaRPr>
                        <a:solidFill>
                          <a:srgbClr val="F8FAFC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76200">
                      <a:solidFill>
                        <a:srgbClr val="33415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00">
                      <a:solidFill>
                        <a:srgbClr val="33415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00">
                      <a:solidFill>
                        <a:srgbClr val="33415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00">
                      <a:solidFill>
                        <a:srgbClr val="33415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>
                          <a:solidFill>
                            <a:srgbClr val="F8FAFC"/>
                          </a:solidFill>
                        </a:rPr>
                        <a:t>853</a:t>
                      </a:r>
                      <a:r>
                        <a:rPr lang="en-US">
                          <a:solidFill>
                            <a:srgbClr val="F8FAFC"/>
                          </a:solidFill>
                        </a:rPr>
                        <a:t> ms</a:t>
                      </a:r>
                      <a:endParaRPr>
                        <a:solidFill>
                          <a:srgbClr val="F8FAFC"/>
                        </a:solidFill>
                      </a:endParaRPr>
                    </a:p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>
                          <a:solidFill>
                            <a:srgbClr val="F8FAFC"/>
                          </a:solidFill>
                        </a:rPr>
                        <a:t>(0.9 s)</a:t>
                      </a:r>
                      <a:endParaRPr>
                        <a:solidFill>
                          <a:srgbClr val="F8FAFC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76200">
                      <a:solidFill>
                        <a:srgbClr val="33415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00">
                      <a:solidFill>
                        <a:srgbClr val="33415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00">
                      <a:solidFill>
                        <a:srgbClr val="33415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00">
                      <a:solidFill>
                        <a:srgbClr val="33415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20617"/>
        </a:solidFill>
      </p:bgPr>
    </p:bg>
    <p:spTree>
      <p:nvGrpSpPr>
        <p:cNvPr id="223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24" name="Google Shape;224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25" name="Google Shape;225;p22"/>
          <p:cNvSpPr txBox="1"/>
          <p:nvPr/>
        </p:nvSpPr>
        <p:spPr>
          <a:xfrm>
            <a:off x="3696300" y="4253526"/>
            <a:ext cx="47994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6" name="Google Shape;226;p22"/>
          <p:cNvSpPr txBox="1"/>
          <p:nvPr/>
        </p:nvSpPr>
        <p:spPr>
          <a:xfrm>
            <a:off x="771525" y="581025"/>
            <a:ext cx="11381400" cy="5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450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Next 2 Weeks</a:t>
            </a:r>
            <a:endParaRPr/>
          </a:p>
        </p:txBody>
      </p:sp>
      <p:sp>
        <p:nvSpPr>
          <p:cNvPr id="227" name="Google Shape;227;p22"/>
          <p:cNvSpPr/>
          <p:nvPr/>
        </p:nvSpPr>
        <p:spPr>
          <a:xfrm>
            <a:off x="581025" y="581025"/>
            <a:ext cx="76200" cy="533400"/>
          </a:xfrm>
          <a:prstGeom prst="rect">
            <a:avLst/>
          </a:prstGeom>
          <a:solidFill>
            <a:srgbClr val="2DD4B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8" name="Google Shape;228;p22"/>
          <p:cNvSpPr txBox="1"/>
          <p:nvPr/>
        </p:nvSpPr>
        <p:spPr>
          <a:xfrm>
            <a:off x="789575" y="1590425"/>
            <a:ext cx="10490100" cy="45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318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Calibri"/>
              <a:buChar char="-"/>
            </a:pPr>
            <a:r>
              <a:rPr lang="en-US" sz="32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Continue testing AI models and </a:t>
            </a:r>
            <a:r>
              <a:rPr lang="en-US" sz="32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system prompts</a:t>
            </a:r>
            <a:endParaRPr sz="32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4318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Calibri"/>
              <a:buChar char="-"/>
            </a:pPr>
            <a:r>
              <a:rPr lang="en-US" sz="32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Transfer the API onto the server</a:t>
            </a:r>
            <a:endParaRPr sz="32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4318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Calibri"/>
              <a:buChar char="-"/>
            </a:pPr>
            <a:r>
              <a:rPr lang="en-US" sz="32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Develop a live dashboard</a:t>
            </a:r>
            <a:endParaRPr sz="32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4318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Calibri"/>
              <a:buChar char="-"/>
            </a:pPr>
            <a:r>
              <a:rPr lang="en-US" sz="32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GUI Redesign</a:t>
            </a:r>
            <a:endParaRPr sz="32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4318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Calibri"/>
              <a:buChar char="-"/>
            </a:pPr>
            <a:r>
              <a:rPr lang="en-US" sz="32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AI </a:t>
            </a:r>
            <a:r>
              <a:rPr lang="en-US" sz="32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Recommendation</a:t>
            </a:r>
            <a:r>
              <a:rPr lang="en-US" sz="32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 System</a:t>
            </a:r>
            <a:endParaRPr sz="32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4318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Calibri"/>
              <a:buChar char="-"/>
            </a:pPr>
            <a:r>
              <a:rPr lang="en-US" sz="32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Implement remote FPGA power through SMART WIFI PLUGS</a:t>
            </a:r>
            <a:endParaRPr sz="32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20617"/>
        </a:solidFill>
      </p:bgPr>
    </p:bg>
    <p:spTree>
      <p:nvGrpSpPr>
        <p:cNvPr id="232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33" name="Google Shape;233;p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34" name="Google Shape;234;p23"/>
          <p:cNvSpPr txBox="1"/>
          <p:nvPr/>
        </p:nvSpPr>
        <p:spPr>
          <a:xfrm>
            <a:off x="305251" y="2718712"/>
            <a:ext cx="11581500" cy="10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6750">
                <a:solidFill>
                  <a:srgbClr val="2DD4BF"/>
                </a:solidFill>
                <a:latin typeface="Urbanist"/>
                <a:ea typeface="Urbanist"/>
                <a:cs typeface="Urbanist"/>
                <a:sym typeface="Urbanist"/>
              </a:rPr>
              <a:t>Thank You!</a:t>
            </a:r>
            <a:endParaRPr/>
          </a:p>
        </p:txBody>
      </p:sp>
      <p:sp>
        <p:nvSpPr>
          <p:cNvPr id="235" name="Google Shape;235;p23"/>
          <p:cNvSpPr txBox="1"/>
          <p:nvPr/>
        </p:nvSpPr>
        <p:spPr>
          <a:xfrm>
            <a:off x="581025" y="3757612"/>
            <a:ext cx="110301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